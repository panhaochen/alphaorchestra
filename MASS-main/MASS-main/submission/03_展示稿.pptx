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激活</c:f>
              <c:strCache>
                <c:ptCount val="1"/>
                <c:pt idx="0">
                  <c:v>激活</c:v>
                </c:pt>
              </c:strCache>
            </c:strRef>
          </c:tx>
          <c:spPr>
            <a:solidFill>
              <a:srgbClr val="072D45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575" b="1" i="0" u="none" strike="noStrike" kern="1200" baseline="0">
                    <a:solidFill>
                      <a:srgbClr val="FFFFFF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Data'!$A$2:$A$2</c:f>
              <c:strCache>
                <c:ptCount val="1"/>
                <c:pt idx="0">
                  <c:v>64 个候选</c:v>
                </c:pt>
              </c:strCache>
            </c:strRef>
          </c:cat>
          <c:val>
            <c:numRef>
              <c:f>'Chart Data'!$B$2:$B$2</c:f>
              <c:numCache>
                <c:formatCode>0.00</c:formatCode>
                <c:ptCount val="1"/>
                <c:pt idx="0">
                  <c:v>14.14</c:v>
                </c:pt>
              </c:numCache>
            </c:numRef>
          </c:val>
        </c:ser>
        <c:ser>
          <c:idx val="1"/>
          <c:order val="1"/>
          <c:tx>
            <c:strRef>
              <c:f>未激活</c:f>
              <c:strCache>
                <c:ptCount val="1"/>
                <c:pt idx="0">
                  <c:v>未激活</c:v>
                </c:pt>
              </c:strCache>
            </c:strRef>
          </c:tx>
          <c:spPr>
            <a:solidFill>
              <a:srgbClr val="DFE8ED"/>
            </a:solidFill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Data'!$C$2:$C$2</c:f>
              <c:strCache>
                <c:ptCount val="1"/>
                <c:pt idx="0">
                  <c:v>64 个候选</c:v>
                </c:pt>
              </c:strCache>
            </c:strRef>
          </c:cat>
          <c:val>
            <c:numRef>
              <c:f>'Chart Data'!$D$2:$D$2</c:f>
              <c:numCache>
                <c:formatCode>0.00</c:formatCode>
                <c:ptCount val="1"/>
                <c:pt idx="0">
                  <c:v>49.86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4"/>
          <c:min val="0"/>
        </c:scaling>
        <c:delete val="1"/>
        <c:axPos val="b"/>
        <c:numFmt formatCode="0.00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75" b="0" i="0" u="none" strike="noStrike" kern="1200" baseline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be4aaea-93ac-4a23-ada4-65322e67ab90}"/>
      </c:ext>
    </c:extLst>
  </c:chart>
  <c:spPr>
    <a:noFill/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平均分歧严重度</c:f>
              <c:strCache>
                <c:ptCount val="1"/>
                <c:pt idx="0">
                  <c:v>平均分歧严重度</c:v>
                </c:pt>
              </c:strCache>
            </c:strRef>
          </c:tx>
          <c:spPr>
            <a:solidFill>
              <a:srgbClr val="072D45"/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rgbClr val="C99B38"/>
              </a:solidFill>
            </c:spPr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Data'!$A$2:$A$3</c:f>
              <c:strCache>
                <c:ptCount val="2"/>
                <c:pt idx="0">
                  <c:v>辩论前</c:v>
                </c:pt>
                <c:pt idx="1">
                  <c:v>辩论后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0.49</c:v>
                </c:pt>
                <c:pt idx="1">
                  <c:v>0.435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BD6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w="7620">
              <a:solidFill>
                <a:srgbClr val="CBD6DC"/>
              </a:solidFill>
              <a:prstDash val="solid"/>
              <a:round/>
            </a:ln>
          </c:spPr>
        </c:majorGridlines>
        <c:numFmt formatCode="0.000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</a:p>
        </c:txPr>
        <c:crossAx val="48650112"/>
        <c:crosses val="autoZero"/>
        <c:crossBetween val="between"/>
        <c:majorUnit val="0.2"/>
      </c:valAx>
      <c:spPr>
        <a:noFill/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61fb391-601d-44ab-98a5-f8f64752e145}"/>
      </c:ext>
    </c:extLst>
  </c:chart>
  <c:spPr>
    <a:noFill/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4 智能体控制组</c:f>
              <c:strCache>
                <c:ptCount val="1"/>
                <c:pt idx="0">
                  <c:v>4 智能体控制组</c:v>
                </c:pt>
              </c:strCache>
            </c:strRef>
          </c:tx>
          <c:spPr>
            <a:solidFill>
              <a:srgbClr val="DFE8ED"/>
            </a:solidFill>
          </c:spPr>
          <c:invertIfNegative val="0"/>
          <c:dLbls>
            <c:delete val="1"/>
          </c:dLbls>
          <c:cat>
            <c:strRef>
              <c:f>'Chart Data'!$A$2:$A$3</c:f>
              <c:strCache>
                <c:ptCount val="2"/>
                <c:pt idx="0">
                  <c:v>5 日</c:v>
                </c:pt>
                <c:pt idx="1">
                  <c:v>10 日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0.009768</c:v>
                </c:pt>
                <c:pt idx="1">
                  <c:v>0.009591</c:v>
                </c:pt>
              </c:numCache>
            </c:numRef>
          </c:val>
        </c:ser>
        <c:ser>
          <c:idx val="1"/>
          <c:order val="1"/>
          <c:tx>
            <c:strRef>
              <c:f>AlphaOrchestra</c:f>
              <c:strCache>
                <c:ptCount val="1"/>
                <c:pt idx="0">
                  <c:v>AlphaOrchestra</c:v>
                </c:pt>
              </c:strCache>
            </c:strRef>
          </c:tx>
          <c:spPr>
            <a:solidFill>
              <a:srgbClr val="072D45"/>
            </a:solidFill>
          </c:spPr>
          <c:invertIfNegative val="0"/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5 日</c:v>
                </c:pt>
                <c:pt idx="1">
                  <c:v>10 日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0.020645</c:v>
                </c:pt>
                <c:pt idx="1">
                  <c:v>0.018666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BD6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025"/>
          <c:min val="0"/>
        </c:scaling>
        <c:delete val="0"/>
        <c:axPos val="l"/>
        <c:majorGridlines>
          <c:spPr>
            <a:ln w="7620">
              <a:solidFill>
                <a:srgbClr val="CBD6DC"/>
              </a:solidFill>
              <a:prstDash val="solid"/>
              <a:round/>
            </a:ln>
          </c:spPr>
        </c:majorGridlines>
        <c:numFmt formatCode="0.000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</a:p>
        </c:txPr>
        <c:crossAx val="48650112"/>
        <c:crosses val="autoZero"/>
        <c:crossBetween val="between"/>
        <c:majorUnit val="0.01"/>
      </c:valAx>
      <c:spPr>
        <a:noFill/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a4ef495b-fbad-437b-91f4-1203d857728b}"/>
      </c:ext>
    </c:extLst>
  </c:chart>
  <c:spPr>
    <a:noFill/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4 智能体控制组</c:f>
              <c:strCache>
                <c:ptCount val="1"/>
                <c:pt idx="0">
                  <c:v>4 智能体控制组</c:v>
                </c:pt>
              </c:strCache>
            </c:strRef>
          </c:tx>
          <c:spPr>
            <a:solidFill>
              <a:srgbClr val="DFE8ED"/>
            </a:solidFill>
          </c:spPr>
          <c:invertIfNegative val="0"/>
          <c:dLbls>
            <c:delete val="1"/>
          </c:dLbls>
          <c:cat>
            <c:strRef>
              <c:f>'Chart Data'!$A$2:$A$3</c:f>
              <c:strCache>
                <c:ptCount val="2"/>
                <c:pt idx="0">
                  <c:v>5 日</c:v>
                </c:pt>
                <c:pt idx="1">
                  <c:v>10 日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0.141083</c:v>
                </c:pt>
                <c:pt idx="1">
                  <c:v>0.122253</c:v>
                </c:pt>
              </c:numCache>
            </c:numRef>
          </c:val>
        </c:ser>
        <c:ser>
          <c:idx val="1"/>
          <c:order val="1"/>
          <c:tx>
            <c:strRef>
              <c:f>AlphaOrchestra</c:f>
              <c:strCache>
                <c:ptCount val="1"/>
                <c:pt idx="0">
                  <c:v>AlphaOrchestra</c:v>
                </c:pt>
              </c:strCache>
            </c:strRef>
          </c:tx>
          <c:spPr>
            <a:solidFill>
              <a:srgbClr val="072D45"/>
            </a:solidFill>
          </c:spPr>
          <c:invertIfNegative val="0"/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5 日</c:v>
                </c:pt>
                <c:pt idx="1">
                  <c:v>10 日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0.227861</c:v>
                </c:pt>
                <c:pt idx="1">
                  <c:v>0.188458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BD6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w="7620">
              <a:solidFill>
                <a:srgbClr val="CBD6DC"/>
              </a:solidFill>
              <a:prstDash val="solid"/>
              <a:round/>
            </a:ln>
          </c:spPr>
        </c:majorGridlines>
        <c:numFmt formatCode="0.000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</a:p>
        </c:txPr>
        <c:crossAx val="48650112"/>
        <c:crosses val="autoZero"/>
        <c:crossBetween val="between"/>
        <c:majorUnit val="0.1"/>
      </c:valAx>
      <c:spPr>
        <a:noFill/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a757e457-fcea-4779-880c-107781b25b18}"/>
      </c:ext>
    </c:extLst>
  </c:chart>
  <c:spPr>
    <a:noFill/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扩展期 RankIC</c:f>
              <c:strCache>
                <c:ptCount val="1"/>
                <c:pt idx="0">
                  <c:v>扩展期 RankIC</c:v>
                </c:pt>
              </c:strCache>
            </c:strRef>
          </c:tx>
          <c:spPr>
            <a:solidFill>
              <a:srgbClr val="072D45"/>
            </a:solidFill>
          </c:spPr>
          <c:invertIfNegative val="0"/>
          <c:dPt>
            <c:idx val="1"/>
            <c:invertIfNegative val="0"/>
            <c:bubble3D val="0"/>
            <c:spPr>
              <a:solidFill>
                <a:srgbClr val="125173"/>
              </a:solidFill>
            </c:spPr>
          </c:dPt>
          <c:dLbls>
            <c:numFmt formatCode="0.0000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Data'!$A$2:$A$3</c:f>
              <c:strCache>
                <c:ptCount val="2"/>
                <c:pt idx="0">
                  <c:v>5 日</c:v>
                </c:pt>
                <c:pt idx="1">
                  <c:v>10 日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0.007216</c:v>
                </c:pt>
                <c:pt idx="1">
                  <c:v>0.011121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BD6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00" b="0" i="0" u="none" strike="noStrike" kern="1200" baseline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0.014"/>
          <c:min val="0"/>
        </c:scaling>
        <c:delete val="0"/>
        <c:axPos val="l"/>
        <c:majorGridlines>
          <c:spPr>
            <a:ln w="7620">
              <a:solidFill>
                <a:srgbClr val="CBD6DC"/>
              </a:solidFill>
              <a:prstDash val="solid"/>
              <a:round/>
            </a:ln>
          </c:spPr>
        </c:majorGridlines>
        <c:numFmt formatCode="0.000" sourceLinked="1"/>
        <c:majorTickMark val="none"/>
        <c:minorTickMark val="none"/>
        <c:tickLblPos val="nextTo"/>
        <c:spPr>
          <a:ln w="0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</a:p>
        </c:txPr>
        <c:crossAx val="48650112"/>
        <c:crosses val="autoZero"/>
        <c:crossBetween val="between"/>
        <c:majorUnit val="0.005"/>
      </c:valAx>
      <c:spPr>
        <a:noFill/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c2e2d7a-901b-40eb-a5ae-b361b41b4183}"/>
      </c:ext>
    </c:extLst>
  </c:chart>
  <c:spPr>
    <a:noFill/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35 秒</a:t>
            </a:r>
          </a:p>
          <a:p/>
          <a:p>
            <a:r>
              <a:t>各位评委好，我们的项目是 AlphaOrchestra，中文名是群智阿尔法。它面向多智能体金融投研，解决全量调用开销大、冲突观点难解释以及研究结果难追溯的问题。系统先建立六十四个异质候选视角，再根据市场状态选择有代表性的智能体，分析分歧并进行情境聚合，最终输出一日、五日和十日研究信号，同时保存研究过程。接下来重点介绍系统机制与已记录的实验结果。</a:t>
            </a:r>
          </a:p>
          <a:p/>
          <a:p>
            <a:r>
              <a:t>内容来源：03_展示稿_GPT_Work制作稿(1).md。</a:t>
            </a:r>
          </a:p>
          <a:p>
            <a:r>
              <a:t>证据路径：03_展示稿_GPT_Work制作稿(1).md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35 秒</a:t>
            </a:r>
          </a:p>
          <a:p/>
          <a:p>
            <a:r>
              <a:t>多智能体投研的困难主要来自三个环节。第一，全量调用会让延迟和令牌开销随规模增长。第二，简单多数投票把不同来源、不同覆盖范围和不同能力的意见放在一起，难以解释真实冲突。第三，如果运行过程缺少请求日志、配置记录和时序检查，回测结果很难复现。我们因此把代表性选择、分歧解释和证据记录作为系统设计的核心任务。</a:t>
            </a:r>
          </a:p>
          <a:p/>
          <a:p>
            <a:r>
              <a:t>内容来源：03_展示稿_GPT_Work制作稿(1).md。</a:t>
            </a:r>
          </a:p>
          <a:p>
            <a:r>
              <a:t>证据路径：03_展示稿_GPT_Work制作稿(1).md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35 秒</a:t>
            </a:r>
          </a:p>
          <a:p/>
          <a:p>
            <a:r>
              <a:t>系统从市场数据出发，先识别市场状态，再从六十四个候选智能体中动态选择代表性视角。随后对意见分歧进行分类，高冲突情况进入有限辩论，最后通过情境聚合输出一日、五日和十日研究信号。这条路径同时保存路由、诊断和输出记录。底部列出的缓存、预算、配置哈希、请求日志以及历史前缀检查，共同支持整个过程的续跑、复现与核查。</a:t>
            </a:r>
          </a:p>
          <a:p/>
          <a:p>
            <a:r>
              <a:t>内容来源：03_展示稿_GPT_Work制作稿(1).md。</a:t>
            </a:r>
          </a:p>
          <a:p>
            <a:r>
              <a:t>证据路径：02_项目说明.pdf 第 3 页；05_技术证据/04_关键代码/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35 秒</a:t>
            </a:r>
          </a:p>
          <a:p/>
          <a:p>
            <a:r>
              <a:t>候选池包含十六类投资者家族，每一类配置四个角色副本，总共形成六十四个候选智能体。异质性体现在数据模态、投资偏好、提示结构和行为约束。这里用编号展示家族规模，具体家族命名以项目配置为准。候选池的作用是提供观点多样性，后续路由每天只调用其中一部分，因此候选池规模和实际调用数量是两个不同概念。</a:t>
            </a:r>
          </a:p>
          <a:p/>
          <a:p>
            <a:r>
              <a:t>内容来源：03_展示稿_GPT_Work制作稿(1).md。</a:t>
            </a:r>
          </a:p>
          <a:p>
            <a:r>
              <a:t>证据路径：03_展示稿_GPT_Work制作稿(1).md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35 秒</a:t>
            </a:r>
          </a:p>
          <a:p/>
          <a:p>
            <a:r>
              <a:t>路由评分综合市场状态匹配、历史表现、探索奖励、调用成本以及家族多样性，设计激活范围为八至二十四个智能体。在二〇二四年第二季度的记录中，日均激活十四点一四个，实际每天介于十二到十六个之间。相比六十四个候选全部调用，候选激活数量减少百分之七十七点九。这个数字只说明调用数量的变化，不能解释为已测得的人民币 API 费用节省。</a:t>
            </a:r>
          </a:p>
          <a:p/>
          <a:p>
            <a:r>
              <a:t>内容来源：03_展示稿_GPT_Work制作稿(1).md。</a:t>
            </a:r>
          </a:p>
          <a:p>
            <a:r>
              <a:t>证据路径：05_技术证据/01_运行产物/q2_enhanced/routing.parquet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35 秒</a:t>
            </a:r>
          </a:p>
          <a:p/>
          <a:p>
            <a:r>
              <a:t>系统首先识别分歧来源，包括证据来源、信息覆盖、模型能力以及方向上的冲突。普通分歧直接进入聚合，高冲突股票才触发有限辩论，而低置信度结果允许弃权，避免为了给出方向而强行表态。在二〇二四年第二季度，辩论覆盖一百一十八个股票日，平均分歧严重度由零点四九〇降到零点四三五，下降约百分之十一点三。这个结果反映分歧指标的改善。</a:t>
            </a:r>
          </a:p>
          <a:p/>
          <a:p>
            <a:r>
              <a:t>内容来源：03_展示稿_GPT_Work制作稿(1).md。</a:t>
            </a:r>
          </a:p>
          <a:p>
            <a:r>
              <a:t>证据路径：diagnostics.parquet；debates.parquet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35 秒</a:t>
            </a:r>
          </a:p>
          <a:p/>
          <a:p>
            <a:r>
              <a:t>聚合权重联合历史表现、当前置信度、证据质量、意见一致度和调用成本。系统输出三个周期的信号，并保留均值、离散程度、路由和诊断信息。运行层面，请求缓存可以支持网络中断后的续跑，预算、令牌和配置都写入记录。历史前缀一致性检查最终通过，说明延长运行终点不会改变共同历史前缀上的信号，为研究结果的时序一致性提供检查依据。</a:t>
            </a:r>
          </a:p>
          <a:p/>
          <a:p>
            <a:r>
              <a:t>内容来源：03_展示稿_GPT_Work制作稿(1).md。</a:t>
            </a:r>
          </a:p>
          <a:p>
            <a:r>
              <a:t>证据路径：03_展示稿_GPT_Work制作稿(1).md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45 秒</a:t>
            </a:r>
          </a:p>
          <a:p/>
          <a:p>
            <a:r>
              <a:t>主要对照使用 CSI300、二〇二四年第二季度，在同一数据、时期和随机种子下得到五十九个有效交易日。相对同仓库的四智能体控制组，增强系统的五日 RankIC 由零点〇〇九七六八提升到零点〇二〇六四五，十日 RankIC 由零点〇〇九五九一提升到零点〇一八六六六，两个周期的 RankICIR 也提高。主动收益由正零点二九五个百分点提升到正零点六七一个百分点。这是相对控制组的增量，不能视为论文五百一十二智能体结果的复现。</a:t>
            </a:r>
          </a:p>
          <a:p/>
          <a:p>
            <a:r>
              <a:t>内容来源：03_展示稿_GPT_Work制作稿(1).md。</a:t>
            </a:r>
          </a:p>
          <a:p>
            <a:r>
              <a:t>证据路径：制作稿第 8 页；对应控制组与增强系统运行汇总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45 秒</a:t>
            </a:r>
          </a:p>
          <a:p/>
          <a:p>
            <a:r>
              <a:t>扩展期参数预先确定后，二〇二六年的五日和十日 RankIC 分别为零点〇〇七二一六和零点〇一一一二一，两者保持正值。对应的 RankICIR 为零点〇八四六五一和零点一三一一七九，有效交易日分别为一百七十六天和一百七十一天。右侧的二〇二六年第三季度主动收益正百分之四点〇一、信息比率零点八三九，只作为特定市场阶段的正向案例。跨期结论关注排序信号，组合层面的适用条件将在局限页说明。</a:t>
            </a:r>
          </a:p>
          <a:p/>
          <a:p>
            <a:r>
              <a:t>内容来源：03_展示稿_GPT_Work制作稿(1).md。</a:t>
            </a:r>
          </a:p>
          <a:p>
            <a:r>
              <a:t>证据路径：制作稿第 9 页；2026 扩展期运行汇总及历史前缀一致性检查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40 秒</a:t>
            </a:r>
          </a:p>
          <a:p/>
          <a:p>
            <a:r>
              <a:t>这一页展示二〇二四年第二季度增强系统的运行记录。日均候选激活十四点一四个，共一千〇九十条智能体记录，其中一千〇七十条成功，成功率为百分之九十八点一七。请求记录一千九百三十七条，其中缓存请求一千五百九十六条。辩论记录二百三十六条，覆盖一百一十八个股票日。中断后可用同一命令继续运行并复用缓存。费用字段为零，因此这些数量说明运行效率与记录能力，不支持人民币费用节省比例的结论。</a:t>
            </a:r>
          </a:p>
          <a:p/>
          <a:p>
            <a:r>
              <a:t>内容来源：03_展示稿_GPT_Work制作稿(1).md。</a:t>
            </a:r>
          </a:p>
          <a:p>
            <a:r>
              <a:t>证据路径：制作稿第 10 页；q2_enhanced 运行记录汇总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40 秒</a:t>
            </a:r>
          </a:p>
          <a:p/>
          <a:p>
            <a:r>
              <a:t>当前系统更适合因子研究、策略会审、观点冲突定位、投委会前置筛查和模拟跟踪。需要明确，正向排序信号还没有在所有时期稳定转化为组合超额收益。免费数据在历史成分、复权和基本面方面也有限，系统尚未完成连续仿真盘或实盘稳定性验证，六十四候选池不能替代论文五百一十二智能体的等规模复现。下一步将增加风格与行业暴露约束，进行至少三个月模拟跟踪，并接入商业点时数据做双源核查。</a:t>
            </a:r>
          </a:p>
          <a:p/>
          <a:p>
            <a:r>
              <a:t>内容来源：03_展示稿_GPT_Work制作稿(1).md。</a:t>
            </a:r>
          </a:p>
          <a:p>
            <a:r>
              <a:t>证据路径：03_展示稿_GPT_Work制作稿(1).md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35 秒</a:t>
            </a:r>
          </a:p>
          <a:p/>
          <a:p>
            <a:r>
              <a:t>最后回到项目的完整链条。六十四个异质候选视角提供观点多样性，动态稀疏选择将每日激活控制在八到二十四个。分歧分析、条件辩论和情境聚合在已展示的对照中改善了中期排序指标，同时缓存、预算、配置记录以及时序检查保存研究过程。演示入口是本地部署目录中的 start_review.ps1。评委可以先通过离线示例检查核心结果，也可以在配置 API 后联网复现。感谢各位评委。</a:t>
            </a:r>
          </a:p>
          <a:p/>
          <a:p>
            <a:r>
              <a:t>内容来源：03_展示稿_GPT_Work制作稿(1).md。</a:t>
            </a:r>
          </a:p>
          <a:p>
            <a:r>
              <a:t>证据路径：06_本地部署/start_review.ps1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.png"/><Relationship Id="rId2" Type="http://schemas.openxmlformats.org/officeDocument/2006/relationships/chart" Target="../charts/chart4.xml"/><Relationship Id="rId1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876300" cy="6858000"/>
          </a:xfrm>
          <a:prstGeom prst="rect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52400" y="381000"/>
            <a:ext cx="571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PART</a:t>
            </a:r>
            <a:endParaRPr sz="112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3825" y="657225"/>
            <a:ext cx="62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01</a:t>
            </a:r>
            <a:endParaRPr sz="397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219075" y="1457325"/>
            <a:ext cx="447675" cy="0"/>
          </a:xfrm>
          <a:prstGeom prst="line">
            <a:avLst/>
          </a:prstGeom>
          <a:noFill/>
          <a:ln w="9525">
            <a:solidFill>
              <a:srgbClr val="B7CCD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09550" y="1943100"/>
            <a:ext cx="4572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项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介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绍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" y="6029325"/>
            <a:ext cx="71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rPr>
              <a:t>01 / 12</a:t>
            </a:r>
            <a:endParaRPr sz="975" b="0">
              <a:solidFill>
                <a:srgbClr val="ADC2C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95400" y="695325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04925" y="1685925"/>
            <a:ext cx="419100" cy="38100"/>
          </a:xfrm>
          <a:prstGeom prst="rect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1295400" y="6362700"/>
            <a:ext cx="104203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95400" y="6448425"/>
            <a:ext cx="962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AlphaOrchestra｜北京大学金融 AI 智能体创新大赛</a:t>
            </a:r>
            <a:endParaRPr sz="10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268075" y="64293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1</a:t>
            </a:r>
            <a:endParaRPr sz="1125" b="0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714750" y="1066800"/>
            <a:ext cx="7667625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600" b="1">
                <a:solidFill>
                  <a:srgbClr val="D9E3E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2600" b="1">
                <a:solidFill>
                  <a:srgbClr val="D9E3E8"/>
                </a:solidFill>
                <a:latin typeface="DejaVu Sans"/>
                <a:ea typeface="DejaVu Sans"/>
                <a:cs typeface="DejaVu Sans"/>
              </a:defRPr>
            </a:pPr>
            <a:r>
              <a:rPr sz="12600" b="1">
                <a:solidFill>
                  <a:srgbClr val="D9E3E8"/>
                </a:solidFill>
                <a:latin typeface="DejaVu Sans"/>
                <a:ea typeface="DejaVu Sans"/>
                <a:cs typeface="DejaVu Sans"/>
              </a:rPr>
              <a:t>ALPHA</a:t>
            </a:r>
            <a:endParaRPr sz="12600" b="1">
              <a:solidFill>
                <a:srgbClr val="D9E3E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6315075" y="2447925"/>
            <a:ext cx="4895850" cy="2305050"/>
          </a:xfrm>
          <a:prstGeom prst="ellipse">
            <a:avLst/>
          </a:prstGeom>
          <a:noFill/>
          <a:ln w="9525">
            <a:solidFill>
              <a:srgbClr val="B6C8D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23975" y="1924050"/>
            <a:ext cx="9810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100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5100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5100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AlphaOrchestra</a:t>
            </a:r>
            <a:endParaRPr sz="5100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352550" y="2914650"/>
            <a:ext cx="666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0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30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30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群智阿尔法</a:t>
            </a:r>
            <a:endParaRPr sz="30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62075" y="3590925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2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市场状态驱动的多智能体</a:t>
            </a:r>
            <a:endParaRPr sz="2250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22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自适应编排与可信聚合平台</a:t>
            </a:r>
            <a:endParaRPr sz="2250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 rot="36000">
            <a:off x="1447800" y="4714875"/>
            <a:ext cx="10029825" cy="1009650"/>
          </a:xfrm>
          <a:prstGeom prst="rect">
            <a:avLst/>
          </a:prstGeom>
          <a:solidFill>
            <a:srgbClr val="E9DEC1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 rot="-24000">
            <a:off x="1381125" y="4638675"/>
            <a:ext cx="10029825" cy="1009650"/>
          </a:xfrm>
          <a:prstGeom prst="rect">
            <a:avLst/>
          </a:prstGeom>
          <a:solidFill>
            <a:srgbClr val="F5EEE6"/>
          </a:solidFill>
          <a:ln w="9525">
            <a:solidFill>
              <a:srgbClr val="DDDCD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/>
        </p:nvSpPr>
        <p:spPr>
          <a:xfrm>
            <a:off x="1609725" y="4772025"/>
            <a:ext cx="1000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97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97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64</a:t>
            </a:r>
            <a:endParaRPr sz="3975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695575" y="49720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候选视角</a:t>
            </a:r>
            <a:endParaRPr sz="18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4171950" y="5200650"/>
            <a:ext cx="1447800" cy="0"/>
          </a:xfrm>
          <a:prstGeom prst="line">
            <a:avLst/>
          </a:prstGeom>
          <a:noFill/>
          <a:ln w="19050">
            <a:solidFill>
              <a:srgbClr val="072D45"/>
            </a:solidFill>
            <a:prstDash val="solid"/>
          </a:ln>
        </p:spPr>
      </p:sp>
      <p:sp>
        <p:nvSpPr>
          <p:cNvPr id="23" name="右箭头 22"/>
          <p:cNvSpPr>
            <a:spLocks noGrp="1"/>
          </p:cNvSpPr>
          <p:nvPr/>
        </p:nvSpPr>
        <p:spPr>
          <a:xfrm>
            <a:off x="5534025" y="5143500"/>
            <a:ext cx="180975" cy="114300"/>
          </a:xfrm>
          <a:prstGeom prst="rightArrow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953125" y="4838700"/>
            <a:ext cx="30765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000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000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1 / 5 / 10</a:t>
            </a:r>
            <a:endParaRPr sz="3000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029700" y="4981575"/>
            <a:ext cx="21050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日研究信号</a:t>
            </a:r>
            <a:endParaRPr sz="18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343025" y="5857875"/>
            <a:ext cx="6772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北京大学金融 AI 智能体创新大赛复赛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34375" y="6019800"/>
            <a:ext cx="3276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3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队名：聪明人做投资从不用自己的钱    </a:t>
            </a:r>
            <a:endParaRPr sz="13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3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lang="zh-CN" sz="13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队员：孙浩霖，谢永仪，潘昊辰</a:t>
            </a:r>
            <a:endParaRPr sz="13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3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3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2026 年 10 月</a:t>
            </a:r>
            <a:endParaRPr sz="13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667500" y="4191000"/>
            <a:ext cx="504825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pPr>
            <a:r>
              <a: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rPr>
              <a:t>WHY</a:t>
            </a:r>
            <a:endParaRPr sz="9900" b="1">
              <a:solidFill>
                <a:srgbClr val="E3EAE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76300" cy="6858000"/>
          </a:xfrm>
          <a:prstGeom prst="rect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52400" y="381000"/>
            <a:ext cx="571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PART</a:t>
            </a:r>
            <a:endParaRPr sz="112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3825" y="657225"/>
            <a:ext cx="62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01</a:t>
            </a:r>
            <a:endParaRPr sz="397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219075" y="1457325"/>
            <a:ext cx="447675" cy="0"/>
          </a:xfrm>
          <a:prstGeom prst="line">
            <a:avLst/>
          </a:prstGeom>
          <a:noFill/>
          <a:ln w="9525">
            <a:solidFill>
              <a:srgbClr val="B7CC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09550" y="1943100"/>
            <a:ext cx="4572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问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题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介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绍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" y="6029325"/>
            <a:ext cx="71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rPr>
              <a:t>02 / 12</a:t>
            </a:r>
            <a:endParaRPr sz="975" b="0">
              <a:solidFill>
                <a:srgbClr val="ADC2C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95400" y="695325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多智能体投研的落地障碍</a:t>
            </a:r>
            <a:endParaRPr sz="27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04925" y="1685925"/>
            <a:ext cx="419100" cy="38100"/>
          </a:xfrm>
          <a:prstGeom prst="rect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295400" y="6362700"/>
            <a:ext cx="104203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6448425"/>
            <a:ext cx="962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AlphaOrchestra｜北京大学金融 AI 智能体创新大赛</a:t>
            </a:r>
            <a:endParaRPr sz="10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68075" y="64293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2</a:t>
            </a:r>
            <a:endParaRPr sz="1125" b="0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 rot="36000">
            <a:off x="1371600" y="2600325"/>
            <a:ext cx="3181350" cy="2762250"/>
          </a:xfrm>
          <a:prstGeom prst="rect">
            <a:avLst/>
          </a:prstGeom>
          <a:solidFill>
            <a:srgbClr val="E9DEC1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 rot="-24000">
            <a:off x="1304925" y="2524125"/>
            <a:ext cx="3181350" cy="2762250"/>
          </a:xfrm>
          <a:prstGeom prst="rect">
            <a:avLst/>
          </a:prstGeom>
          <a:solidFill>
            <a:srgbClr val="F5EEE6"/>
          </a:solidFill>
          <a:ln w="9525">
            <a:solidFill>
              <a:srgbClr val="DDDCD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1514475" y="2705100"/>
            <a:ext cx="87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412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412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01</a:t>
            </a:r>
            <a:endParaRPr sz="4125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1533525" y="3562350"/>
            <a:ext cx="270510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533525" y="3771900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调用随规模增长</a:t>
            </a:r>
            <a:endParaRPr sz="2025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33525" y="4314825"/>
            <a:ext cx="27908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数十至数百个智能体全量调用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延迟、令牌与运行费用累积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 rot="96000">
            <a:off x="4829175" y="2600325"/>
            <a:ext cx="3181350" cy="2762250"/>
          </a:xfrm>
          <a:prstGeom prst="rect">
            <a:avLst/>
          </a:prstGeom>
          <a:solidFill>
            <a:srgbClr val="E9DEC1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 rot="36000">
            <a:off x="4762500" y="2524125"/>
            <a:ext cx="3181350" cy="2762250"/>
          </a:xfrm>
          <a:prstGeom prst="rect">
            <a:avLst/>
          </a:prstGeom>
          <a:solidFill>
            <a:srgbClr val="F5EEE6"/>
          </a:solidFill>
          <a:ln w="9525">
            <a:solidFill>
              <a:srgbClr val="DDDCD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4972050" y="2705100"/>
            <a:ext cx="87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412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412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02</a:t>
            </a:r>
            <a:endParaRPr sz="4125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4991100" y="3562350"/>
            <a:ext cx="270510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991100" y="3771900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投票掩盖真实分歧</a:t>
            </a:r>
            <a:endParaRPr sz="2025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991100" y="4314825"/>
            <a:ext cx="27908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信息覆盖与模型能力存在差异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多数票难解释方向冲突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 rot="36000">
            <a:off x="8286750" y="2600325"/>
            <a:ext cx="3181350" cy="2762250"/>
          </a:xfrm>
          <a:prstGeom prst="rect">
            <a:avLst/>
          </a:prstGeom>
          <a:solidFill>
            <a:srgbClr val="E9DEC1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 rot="-24000">
            <a:off x="8220075" y="2524125"/>
            <a:ext cx="3181350" cy="2762250"/>
          </a:xfrm>
          <a:prstGeom prst="rect">
            <a:avLst/>
          </a:prstGeom>
          <a:solidFill>
            <a:srgbClr val="F5EEE6"/>
          </a:solidFill>
          <a:ln w="9525">
            <a:solidFill>
              <a:srgbClr val="DDDCD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8429625" y="2705100"/>
            <a:ext cx="876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412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412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03</a:t>
            </a:r>
            <a:endParaRPr sz="4125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8448675" y="3562350"/>
            <a:ext cx="270510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448675" y="3771900"/>
            <a:ext cx="2743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结果难以追溯</a:t>
            </a:r>
            <a:endParaRPr sz="2025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448675" y="4314825"/>
            <a:ext cx="27908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缺少请求日志与配置记录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回测复现和时序核查困难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343025" y="5715000"/>
            <a:ext cx="100679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关键任务：选择代表性观点，解释冲突，并保存可检查的证据</a:t>
            </a:r>
            <a:endParaRPr sz="2025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3" name="图片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667500" y="4191000"/>
            <a:ext cx="504825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pPr>
            <a:r>
              <a: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rPr>
              <a:t>FLOW</a:t>
            </a:r>
            <a:endParaRPr sz="9900" b="1">
              <a:solidFill>
                <a:srgbClr val="E3EAE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76300" cy="6858000"/>
          </a:xfrm>
          <a:prstGeom prst="rect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52400" y="381000"/>
            <a:ext cx="571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PART</a:t>
            </a:r>
            <a:endParaRPr sz="112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3825" y="657225"/>
            <a:ext cx="62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02</a:t>
            </a:r>
            <a:endParaRPr sz="397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219075" y="1457325"/>
            <a:ext cx="447675" cy="0"/>
          </a:xfrm>
          <a:prstGeom prst="line">
            <a:avLst/>
          </a:prstGeom>
          <a:noFill/>
          <a:ln w="9525">
            <a:solidFill>
              <a:srgbClr val="B7CC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09550" y="1943100"/>
            <a:ext cx="4572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方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案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" y="6029325"/>
            <a:ext cx="71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rPr>
              <a:t>03 / 12</a:t>
            </a:r>
            <a:endParaRPr sz="975" b="0">
              <a:solidFill>
                <a:srgbClr val="ADC2C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95400" y="695325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市场数据进入编排流程，输出多周期研究信号</a:t>
            </a:r>
            <a:endParaRPr sz="27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04925" y="1685925"/>
            <a:ext cx="419100" cy="38100"/>
          </a:xfrm>
          <a:prstGeom prst="rect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295400" y="6362700"/>
            <a:ext cx="104203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6448425"/>
            <a:ext cx="962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AlphaOrchestra｜北京大学金融 AI 智能体创新大赛</a:t>
            </a:r>
            <a:endParaRPr sz="10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68075" y="64293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3</a:t>
            </a:r>
            <a:endParaRPr sz="1125" b="0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95400" y="2809875"/>
            <a:ext cx="1304925" cy="1209675"/>
          </a:xfrm>
          <a:prstGeom prst="rect">
            <a:avLst/>
          </a:prstGeom>
          <a:solidFill>
            <a:srgbClr val="F5EEE6"/>
          </a:solidFill>
          <a:ln w="9525">
            <a:solidFill>
              <a:srgbClr val="CBD6D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419225" y="2924175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01</a:t>
            </a:r>
            <a:endParaRPr sz="1275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390650" y="3305175"/>
            <a:ext cx="1114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市场数据</a:t>
            </a:r>
            <a:endParaRPr sz="18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790825" y="2809875"/>
            <a:ext cx="1304925" cy="1209675"/>
          </a:xfrm>
          <a:prstGeom prst="rect">
            <a:avLst/>
          </a:prstGeom>
          <a:solidFill>
            <a:srgbClr val="F5EEE6"/>
          </a:solidFill>
          <a:ln w="9525">
            <a:solidFill>
              <a:srgbClr val="CBD6D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914650" y="2924175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02</a:t>
            </a:r>
            <a:endParaRPr sz="1275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886075" y="3305175"/>
            <a:ext cx="1114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市场状态</a:t>
            </a:r>
            <a:endParaRPr sz="18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识别</a:t>
            </a:r>
            <a:endParaRPr sz="18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286250" y="2809875"/>
            <a:ext cx="1304925" cy="1209675"/>
          </a:xfrm>
          <a:prstGeom prst="rect">
            <a:avLst/>
          </a:prstGeom>
          <a:solidFill>
            <a:srgbClr val="F5EEE6"/>
          </a:solidFill>
          <a:ln w="9525">
            <a:solidFill>
              <a:srgbClr val="CBD6D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410075" y="2924175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03</a:t>
            </a:r>
            <a:endParaRPr sz="1275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381500" y="3305175"/>
            <a:ext cx="1114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64 候选</a:t>
            </a:r>
            <a:endParaRPr sz="18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智能体池</a:t>
            </a:r>
            <a:endParaRPr sz="18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781675" y="2809875"/>
            <a:ext cx="1304925" cy="1209675"/>
          </a:xfrm>
          <a:prstGeom prst="rect">
            <a:avLst/>
          </a:prstGeom>
          <a:solidFill>
            <a:srgbClr val="072D45"/>
          </a:solidFill>
          <a:ln w="9525">
            <a:solidFill>
              <a:srgbClr val="CBD6DC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905500" y="2924175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DBB6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275" b="1">
                <a:solidFill>
                  <a:srgbClr val="DBB66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BB660"/>
                </a:solidFill>
                <a:latin typeface="DejaVu Sans"/>
                <a:ea typeface="DejaVu Sans"/>
                <a:cs typeface="DejaVu Sans"/>
              </a:rPr>
              <a:t>04</a:t>
            </a:r>
            <a:endParaRPr sz="1275" b="1">
              <a:solidFill>
                <a:srgbClr val="DBB66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876925" y="3305175"/>
            <a:ext cx="1114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动态稀疏</a:t>
            </a:r>
            <a:endParaRPr sz="18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选择</a:t>
            </a:r>
            <a:endParaRPr sz="18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277100" y="2809875"/>
            <a:ext cx="1304925" cy="1209675"/>
          </a:xfrm>
          <a:prstGeom prst="rect">
            <a:avLst/>
          </a:prstGeom>
          <a:solidFill>
            <a:srgbClr val="F5EEE6"/>
          </a:solidFill>
          <a:ln w="9525">
            <a:solidFill>
              <a:srgbClr val="CBD6DC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400925" y="2924175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05</a:t>
            </a:r>
            <a:endParaRPr sz="1275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372350" y="3305175"/>
            <a:ext cx="1114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分歧分析</a:t>
            </a:r>
            <a:endParaRPr sz="18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条件辩论</a:t>
            </a:r>
            <a:endParaRPr sz="18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772525" y="2809875"/>
            <a:ext cx="1304925" cy="1209675"/>
          </a:xfrm>
          <a:prstGeom prst="rect">
            <a:avLst/>
          </a:prstGeom>
          <a:solidFill>
            <a:srgbClr val="F5EEE6"/>
          </a:solidFill>
          <a:ln w="9525">
            <a:solidFill>
              <a:srgbClr val="CBD6DC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896350" y="2924175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06</a:t>
            </a:r>
            <a:endParaRPr sz="1275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867775" y="3305175"/>
            <a:ext cx="1114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情境聚合</a:t>
            </a:r>
            <a:endParaRPr sz="18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0267950" y="2809875"/>
            <a:ext cx="1304925" cy="1209675"/>
          </a:xfrm>
          <a:prstGeom prst="rect">
            <a:avLst/>
          </a:prstGeom>
          <a:solidFill>
            <a:srgbClr val="072D45"/>
          </a:solidFill>
          <a:ln w="9525">
            <a:solidFill>
              <a:srgbClr val="CBD6DC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391775" y="2924175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1">
                <a:solidFill>
                  <a:srgbClr val="DBB660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275" b="1">
                <a:solidFill>
                  <a:srgbClr val="DBB66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DBB660"/>
                </a:solidFill>
                <a:latin typeface="DejaVu Sans"/>
                <a:ea typeface="DejaVu Sans"/>
                <a:cs typeface="DejaVu Sans"/>
              </a:rPr>
              <a:t>07</a:t>
            </a:r>
            <a:endParaRPr sz="1275" b="1">
              <a:solidFill>
                <a:srgbClr val="DBB66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0363200" y="3305175"/>
            <a:ext cx="11144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1/5/10 日</a:t>
            </a:r>
            <a:endParaRPr sz="18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研究信号</a:t>
            </a:r>
            <a:endParaRPr sz="18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右箭头 34"/>
          <p:cNvSpPr>
            <a:spLocks noGrp="1"/>
          </p:cNvSpPr>
          <p:nvPr/>
        </p:nvSpPr>
        <p:spPr>
          <a:xfrm>
            <a:off x="2628900" y="3357563"/>
            <a:ext cx="133350" cy="114300"/>
          </a:xfrm>
          <a:prstGeom prst="rightArrow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36" name="右箭头 35"/>
          <p:cNvSpPr>
            <a:spLocks noGrp="1"/>
          </p:cNvSpPr>
          <p:nvPr/>
        </p:nvSpPr>
        <p:spPr>
          <a:xfrm>
            <a:off x="4124325" y="3357563"/>
            <a:ext cx="133350" cy="114300"/>
          </a:xfrm>
          <a:prstGeom prst="rightArrow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37" name="右箭头 36"/>
          <p:cNvSpPr>
            <a:spLocks noGrp="1"/>
          </p:cNvSpPr>
          <p:nvPr/>
        </p:nvSpPr>
        <p:spPr>
          <a:xfrm>
            <a:off x="5619750" y="3357563"/>
            <a:ext cx="133350" cy="114300"/>
          </a:xfrm>
          <a:prstGeom prst="rightArrow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38" name="右箭头 37"/>
          <p:cNvSpPr>
            <a:spLocks noGrp="1"/>
          </p:cNvSpPr>
          <p:nvPr/>
        </p:nvSpPr>
        <p:spPr>
          <a:xfrm>
            <a:off x="7115175" y="3357563"/>
            <a:ext cx="133350" cy="114300"/>
          </a:xfrm>
          <a:prstGeom prst="rightArrow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39" name="右箭头 38"/>
          <p:cNvSpPr>
            <a:spLocks noGrp="1"/>
          </p:cNvSpPr>
          <p:nvPr/>
        </p:nvSpPr>
        <p:spPr>
          <a:xfrm>
            <a:off x="8610600" y="3357563"/>
            <a:ext cx="133350" cy="114300"/>
          </a:xfrm>
          <a:prstGeom prst="rightArrow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40" name="右箭头 39"/>
          <p:cNvSpPr>
            <a:spLocks noGrp="1"/>
          </p:cNvSpPr>
          <p:nvPr/>
        </p:nvSpPr>
        <p:spPr>
          <a:xfrm>
            <a:off x="10106025" y="3357563"/>
            <a:ext cx="133350" cy="114300"/>
          </a:xfrm>
          <a:prstGeom prst="rightArrow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1343025" y="4524375"/>
            <a:ext cx="10287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17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研究记录与运行约束贯穿全流程</a:t>
            </a:r>
            <a:endParaRPr sz="2175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1343025" y="5172075"/>
            <a:ext cx="10077450" cy="0"/>
          </a:xfrm>
          <a:prstGeom prst="line">
            <a:avLst/>
          </a:prstGeom>
          <a:noFill/>
          <a:ln w="14288">
            <a:solidFill>
              <a:srgbClr val="072D45"/>
            </a:solidFill>
            <a:prstDash val="solid"/>
          </a:ln>
        </p:spPr>
      </p:sp>
      <p:sp>
        <p:nvSpPr>
          <p:cNvPr id="43" name="椭圆 42"/>
          <p:cNvSpPr>
            <a:spLocks noGrp="1"/>
          </p:cNvSpPr>
          <p:nvPr/>
        </p:nvSpPr>
        <p:spPr>
          <a:xfrm>
            <a:off x="1457325" y="5381625"/>
            <a:ext cx="66675" cy="66675"/>
          </a:xfrm>
          <a:prstGeom prst="ellipse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1628775" y="5257800"/>
            <a:ext cx="1847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缓存续跑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5" name="椭圆 44"/>
          <p:cNvSpPr>
            <a:spLocks noGrp="1"/>
          </p:cNvSpPr>
          <p:nvPr/>
        </p:nvSpPr>
        <p:spPr>
          <a:xfrm>
            <a:off x="3495675" y="5381625"/>
            <a:ext cx="66675" cy="66675"/>
          </a:xfrm>
          <a:prstGeom prst="ellipse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3667125" y="5257800"/>
            <a:ext cx="1847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预算约束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7" name="椭圆 46"/>
          <p:cNvSpPr>
            <a:spLocks noGrp="1"/>
          </p:cNvSpPr>
          <p:nvPr/>
        </p:nvSpPr>
        <p:spPr>
          <a:xfrm>
            <a:off x="5534025" y="5381625"/>
            <a:ext cx="66675" cy="66675"/>
          </a:xfrm>
          <a:prstGeom prst="ellipse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5705475" y="5257800"/>
            <a:ext cx="1847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配置哈希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7572375" y="5381625"/>
            <a:ext cx="66675" cy="66675"/>
          </a:xfrm>
          <a:prstGeom prst="ellipse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7743825" y="5257800"/>
            <a:ext cx="1847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请求日志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1" name="椭圆 50"/>
          <p:cNvSpPr>
            <a:spLocks noGrp="1"/>
          </p:cNvSpPr>
          <p:nvPr/>
        </p:nvSpPr>
        <p:spPr>
          <a:xfrm>
            <a:off x="9610725" y="5381625"/>
            <a:ext cx="66675" cy="66675"/>
          </a:xfrm>
          <a:prstGeom prst="ellipse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9782175" y="5257800"/>
            <a:ext cx="1847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历史前缀检查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4" name="图片 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667500" y="4191000"/>
            <a:ext cx="504825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pPr>
            <a:r>
              <a: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rPr>
              <a:t>64</a:t>
            </a:r>
            <a:endParaRPr sz="9900" b="1">
              <a:solidFill>
                <a:srgbClr val="E3EAE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76300" cy="6858000"/>
          </a:xfrm>
          <a:prstGeom prst="rect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52400" y="381000"/>
            <a:ext cx="571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PART</a:t>
            </a:r>
            <a:endParaRPr sz="112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3825" y="657225"/>
            <a:ext cx="62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02</a:t>
            </a:r>
            <a:endParaRPr sz="397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219075" y="1457325"/>
            <a:ext cx="447675" cy="0"/>
          </a:xfrm>
          <a:prstGeom prst="line">
            <a:avLst/>
          </a:prstGeom>
          <a:noFill/>
          <a:ln w="9525">
            <a:solidFill>
              <a:srgbClr val="B7CC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09550" y="1943100"/>
            <a:ext cx="4572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心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机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制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" y="6029325"/>
            <a:ext cx="71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rPr>
              <a:t>04 / 12</a:t>
            </a:r>
            <a:endParaRPr sz="975" b="0">
              <a:solidFill>
                <a:srgbClr val="ADC2C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95400" y="695325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候选池覆盖 16 类投资者视角</a:t>
            </a:r>
            <a:endParaRPr sz="27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04925" y="1685925"/>
            <a:ext cx="419100" cy="38100"/>
          </a:xfrm>
          <a:prstGeom prst="rect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295400" y="6362700"/>
            <a:ext cx="104203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6448425"/>
            <a:ext cx="962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AlphaOrchestra｜北京大学金融 AI 智能体创新大赛</a:t>
            </a:r>
            <a:endParaRPr sz="10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68075" y="64293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4</a:t>
            </a:r>
            <a:endParaRPr sz="1125" b="0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 rot="42000">
            <a:off x="1457325" y="2362200"/>
            <a:ext cx="5524500" cy="3619500"/>
          </a:xfrm>
          <a:prstGeom prst="rect">
            <a:avLst/>
          </a:prstGeom>
          <a:solidFill>
            <a:srgbClr val="E9DEC1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 rot="-18000">
            <a:off x="1390650" y="2286000"/>
            <a:ext cx="5524500" cy="3619500"/>
          </a:xfrm>
          <a:prstGeom prst="rect">
            <a:avLst/>
          </a:prstGeom>
          <a:solidFill>
            <a:srgbClr val="F5EEE6"/>
          </a:solidFill>
          <a:ln w="9525">
            <a:solidFill>
              <a:srgbClr val="DDDCD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1628775" y="2428875"/>
            <a:ext cx="4381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16 个家族</a:t>
            </a:r>
            <a:endParaRPr sz="21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657350" y="3009900"/>
            <a:ext cx="1057275" cy="466725"/>
          </a:xfrm>
          <a:prstGeom prst="rect">
            <a:avLst/>
          </a:prstGeom>
          <a:solidFill>
            <a:srgbClr val="072D45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724025" y="3067050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01</a:t>
            </a:r>
            <a:endParaRPr sz="165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914650" y="3009900"/>
            <a:ext cx="1057275" cy="466725"/>
          </a:xfrm>
          <a:prstGeom prst="rect">
            <a:avLst/>
          </a:prstGeom>
          <a:solidFill>
            <a:srgbClr val="E7ECEC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2981325" y="3067050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02</a:t>
            </a:r>
            <a:endParaRPr sz="16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171950" y="3009900"/>
            <a:ext cx="1057275" cy="466725"/>
          </a:xfrm>
          <a:prstGeom prst="rect">
            <a:avLst/>
          </a:prstGeom>
          <a:solidFill>
            <a:srgbClr val="E7ECEC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238625" y="3067050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03</a:t>
            </a:r>
            <a:endParaRPr sz="16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429250" y="3009900"/>
            <a:ext cx="1057275" cy="466725"/>
          </a:xfrm>
          <a:prstGeom prst="rect">
            <a:avLst/>
          </a:prstGeom>
          <a:solidFill>
            <a:srgbClr val="E7ECEC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495925" y="3067050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04</a:t>
            </a:r>
            <a:endParaRPr sz="16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657350" y="3629025"/>
            <a:ext cx="1057275" cy="466725"/>
          </a:xfrm>
          <a:prstGeom prst="rect">
            <a:avLst/>
          </a:prstGeom>
          <a:solidFill>
            <a:srgbClr val="E7ECEC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724025" y="3686175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05</a:t>
            </a:r>
            <a:endParaRPr sz="16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914650" y="3629025"/>
            <a:ext cx="1057275" cy="466725"/>
          </a:xfrm>
          <a:prstGeom prst="rect">
            <a:avLst/>
          </a:prstGeom>
          <a:solidFill>
            <a:srgbClr val="072D45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981325" y="3686175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06</a:t>
            </a:r>
            <a:endParaRPr sz="165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4171950" y="3629025"/>
            <a:ext cx="1057275" cy="466725"/>
          </a:xfrm>
          <a:prstGeom prst="rect">
            <a:avLst/>
          </a:prstGeom>
          <a:solidFill>
            <a:srgbClr val="E7ECEC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238625" y="3686175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07</a:t>
            </a:r>
            <a:endParaRPr sz="16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429250" y="3629025"/>
            <a:ext cx="1057275" cy="466725"/>
          </a:xfrm>
          <a:prstGeom prst="rect">
            <a:avLst/>
          </a:prstGeom>
          <a:solidFill>
            <a:srgbClr val="E7ECEC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495925" y="3686175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08</a:t>
            </a:r>
            <a:endParaRPr sz="16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57350" y="4248150"/>
            <a:ext cx="1057275" cy="466725"/>
          </a:xfrm>
          <a:prstGeom prst="rect">
            <a:avLst/>
          </a:prstGeom>
          <a:solidFill>
            <a:srgbClr val="E7ECEC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1724025" y="4305300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09</a:t>
            </a:r>
            <a:endParaRPr sz="16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914650" y="4248150"/>
            <a:ext cx="1057275" cy="466725"/>
          </a:xfrm>
          <a:prstGeom prst="rect">
            <a:avLst/>
          </a:prstGeom>
          <a:solidFill>
            <a:srgbClr val="E7ECEC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2981325" y="4305300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10</a:t>
            </a:r>
            <a:endParaRPr sz="16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4171950" y="4248150"/>
            <a:ext cx="1057275" cy="466725"/>
          </a:xfrm>
          <a:prstGeom prst="rect">
            <a:avLst/>
          </a:prstGeom>
          <a:solidFill>
            <a:srgbClr val="072D45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4238625" y="4305300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11</a:t>
            </a:r>
            <a:endParaRPr sz="165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429250" y="4248150"/>
            <a:ext cx="1057275" cy="466725"/>
          </a:xfrm>
          <a:prstGeom prst="rect">
            <a:avLst/>
          </a:prstGeom>
          <a:solidFill>
            <a:srgbClr val="E7ECEC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495925" y="4305300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12</a:t>
            </a:r>
            <a:endParaRPr sz="16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657350" y="4867275"/>
            <a:ext cx="1057275" cy="466725"/>
          </a:xfrm>
          <a:prstGeom prst="rect">
            <a:avLst/>
          </a:prstGeom>
          <a:solidFill>
            <a:srgbClr val="E7ECEC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724025" y="4924425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13</a:t>
            </a:r>
            <a:endParaRPr sz="16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2914650" y="4867275"/>
            <a:ext cx="1057275" cy="466725"/>
          </a:xfrm>
          <a:prstGeom prst="rect">
            <a:avLst/>
          </a:prstGeom>
          <a:solidFill>
            <a:srgbClr val="E7ECEC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2981325" y="4924425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14</a:t>
            </a:r>
            <a:endParaRPr sz="16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171950" y="4867275"/>
            <a:ext cx="1057275" cy="466725"/>
          </a:xfrm>
          <a:prstGeom prst="rect">
            <a:avLst/>
          </a:prstGeom>
          <a:solidFill>
            <a:srgbClr val="E7ECEC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4238625" y="4924425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15</a:t>
            </a:r>
            <a:endParaRPr sz="16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5429250" y="4867275"/>
            <a:ext cx="1057275" cy="466725"/>
          </a:xfrm>
          <a:prstGeom prst="rect">
            <a:avLst/>
          </a:prstGeom>
          <a:solidFill>
            <a:srgbClr val="072D45"/>
          </a:solidFill>
          <a:ln w="7620">
            <a:solidFill>
              <a:srgbClr val="CBD6DC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5495925" y="4924425"/>
            <a:ext cx="92392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视角 16</a:t>
            </a:r>
            <a:endParaRPr sz="165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419975" y="2438400"/>
            <a:ext cx="36004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5550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5550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5550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× 4</a:t>
            </a:r>
            <a:endParaRPr sz="5550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458075" y="3429000"/>
            <a:ext cx="401002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每类 4 个角色副本</a:t>
            </a:r>
            <a:endParaRPr sz="21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458075" y="4133850"/>
            <a:ext cx="4010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0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角色差异体现在</a:t>
            </a:r>
            <a:endParaRPr sz="180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7458075" y="4552950"/>
            <a:ext cx="4095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数据模态    投资偏好</a:t>
            </a:r>
            <a:endParaRPr sz="18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提示结构    行为约束</a:t>
            </a:r>
            <a:endParaRPr sz="18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7458075" y="5600700"/>
            <a:ext cx="41719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64 个候选提供多样性，每日按需激活</a:t>
            </a:r>
            <a:endParaRPr sz="1725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667500" y="4191000"/>
            <a:ext cx="504825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pPr>
            <a:r>
              <a: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rPr>
              <a:t>SPARSE</a:t>
            </a:r>
            <a:endParaRPr sz="9900" b="1">
              <a:solidFill>
                <a:srgbClr val="E3EAE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76300" cy="6858000"/>
          </a:xfrm>
          <a:prstGeom prst="rect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52400" y="381000"/>
            <a:ext cx="571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PART</a:t>
            </a:r>
            <a:endParaRPr sz="112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3825" y="657225"/>
            <a:ext cx="62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02</a:t>
            </a:r>
            <a:endParaRPr sz="397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219075" y="1457325"/>
            <a:ext cx="447675" cy="0"/>
          </a:xfrm>
          <a:prstGeom prst="line">
            <a:avLst/>
          </a:prstGeom>
          <a:noFill/>
          <a:ln w="9525">
            <a:solidFill>
              <a:srgbClr val="B7CC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09550" y="1943100"/>
            <a:ext cx="4572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心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机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制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" y="6029325"/>
            <a:ext cx="71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rPr>
              <a:t>05 / 12</a:t>
            </a:r>
            <a:endParaRPr sz="975" b="0">
              <a:solidFill>
                <a:srgbClr val="ADC2C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95400" y="695325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每日只激活最有代表性的 8–24 个智能体</a:t>
            </a:r>
            <a:endParaRPr sz="27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04925" y="1685925"/>
            <a:ext cx="419100" cy="38100"/>
          </a:xfrm>
          <a:prstGeom prst="rect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295400" y="6362700"/>
            <a:ext cx="104203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6448425"/>
            <a:ext cx="962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AlphaOrchestra｜北京大学金融 AI 智能体创新大赛</a:t>
            </a:r>
            <a:endParaRPr sz="10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68075" y="64293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5</a:t>
            </a:r>
            <a:endParaRPr sz="1125" b="0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33500" y="2238375"/>
            <a:ext cx="4857750" cy="1209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1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71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7125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77.9%</a:t>
            </a:r>
            <a:endParaRPr sz="7125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81125" y="3457575"/>
            <a:ext cx="50292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全量候选调用减少</a:t>
            </a:r>
            <a:endParaRPr sz="22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381125" y="4095750"/>
            <a:ext cx="5238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9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2024Q2：日均激活 14.14 / 64</a:t>
            </a:r>
            <a:endParaRPr sz="19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9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实测范围 12–16 个</a:t>
            </a:r>
            <a:endParaRPr sz="19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17" name="Chart"/>
          <p:cNvGraphicFramePr/>
          <p:nvPr/>
        </p:nvGraphicFramePr>
        <p:xfrm>
          <a:off x="6572250" y="2381250"/>
          <a:ext cx="4819650" cy="2143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矩形 17"/>
          <p:cNvSpPr>
            <a:spLocks noGrp="1"/>
          </p:cNvSpPr>
          <p:nvPr/>
        </p:nvSpPr>
        <p:spPr>
          <a:xfrm>
            <a:off x="6848475" y="4629150"/>
            <a:ext cx="4514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路由评分依据</a:t>
            </a:r>
            <a:endParaRPr sz="2025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48475" y="5095875"/>
            <a:ext cx="4667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状态匹配    历史表现    探索奖励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调用成本    家族多样性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371600" y="6010275"/>
            <a:ext cx="10048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2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口径：减少的是候选激活数量，不等同于已实测的人民币 API 成本节省</a:t>
            </a:r>
            <a:endParaRPr sz="127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3" name="图片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667500" y="4191000"/>
            <a:ext cx="504825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pPr>
            <a:r>
              <a: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rPr>
              <a:t>DEBATE</a:t>
            </a:r>
            <a:endParaRPr sz="9900" b="1">
              <a:solidFill>
                <a:srgbClr val="E3EAE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76300" cy="6858000"/>
          </a:xfrm>
          <a:prstGeom prst="rect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52400" y="381000"/>
            <a:ext cx="571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PART</a:t>
            </a:r>
            <a:endParaRPr sz="112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3825" y="657225"/>
            <a:ext cx="62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02</a:t>
            </a:r>
            <a:endParaRPr sz="397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219075" y="1457325"/>
            <a:ext cx="447675" cy="0"/>
          </a:xfrm>
          <a:prstGeom prst="line">
            <a:avLst/>
          </a:prstGeom>
          <a:noFill/>
          <a:ln w="9525">
            <a:solidFill>
              <a:srgbClr val="B7CC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09550" y="1943100"/>
            <a:ext cx="4572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心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机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制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" y="6029325"/>
            <a:ext cx="71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rPr>
              <a:t>06 / 12</a:t>
            </a:r>
            <a:endParaRPr sz="975" b="0">
              <a:solidFill>
                <a:srgbClr val="ADC2C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95400" y="695325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冲突观点先分类，再决定是否讨论</a:t>
            </a:r>
            <a:endParaRPr sz="27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04925" y="1685925"/>
            <a:ext cx="419100" cy="38100"/>
          </a:xfrm>
          <a:prstGeom prst="rect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295400" y="6362700"/>
            <a:ext cx="104203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6448425"/>
            <a:ext cx="962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AlphaOrchestra｜北京大学金融 AI 智能体创新大赛</a:t>
            </a:r>
            <a:endParaRPr sz="10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68075" y="64293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6</a:t>
            </a:r>
            <a:endParaRPr sz="1125" b="0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71600" y="2276475"/>
            <a:ext cx="4381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分歧来源</a:t>
            </a:r>
            <a:endParaRPr sz="21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81125" y="2847975"/>
            <a:ext cx="428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42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01</a:t>
            </a:r>
            <a:endParaRPr sz="1425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000250" y="2828925"/>
            <a:ext cx="3686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证据来源不同</a:t>
            </a:r>
            <a:endParaRPr sz="18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1381125" y="3238500"/>
            <a:ext cx="4086225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381125" y="3419475"/>
            <a:ext cx="428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42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02</a:t>
            </a:r>
            <a:endParaRPr sz="1425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000250" y="3400425"/>
            <a:ext cx="3686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信息覆盖不同</a:t>
            </a:r>
            <a:endParaRPr sz="18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1381125" y="3810000"/>
            <a:ext cx="4086225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381125" y="3990975"/>
            <a:ext cx="428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42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03</a:t>
            </a:r>
            <a:endParaRPr sz="1425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000250" y="3971925"/>
            <a:ext cx="3686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模型能力差异</a:t>
            </a:r>
            <a:endParaRPr sz="18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1381125" y="4381500"/>
            <a:ext cx="4086225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381125" y="4562475"/>
            <a:ext cx="42862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425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04</a:t>
            </a:r>
            <a:endParaRPr sz="1425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000250" y="4543425"/>
            <a:ext cx="36861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方向冲突</a:t>
            </a:r>
            <a:endParaRPr sz="18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381125" y="4953000"/>
            <a:ext cx="4086225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381125" y="5314950"/>
            <a:ext cx="4638675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普通分歧直接聚合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高冲突股票触发有限辩论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低置信度结果允许弃权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 rot="78000">
            <a:off x="6305550" y="2352675"/>
            <a:ext cx="5200650" cy="3686175"/>
          </a:xfrm>
          <a:prstGeom prst="rect">
            <a:avLst/>
          </a:prstGeom>
          <a:solidFill>
            <a:srgbClr val="E9DEC1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 rot="18000">
            <a:off x="6238875" y="2276475"/>
            <a:ext cx="5200650" cy="3686175"/>
          </a:xfrm>
          <a:prstGeom prst="rect">
            <a:avLst/>
          </a:prstGeom>
          <a:solidFill>
            <a:srgbClr val="F5EEE6"/>
          </a:solidFill>
          <a:ln w="9525">
            <a:solidFill>
              <a:srgbClr val="DDDCD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30" name="矩形 29"/>
          <p:cNvSpPr>
            <a:spLocks noGrp="1"/>
          </p:cNvSpPr>
          <p:nvPr/>
        </p:nvSpPr>
        <p:spPr>
          <a:xfrm>
            <a:off x="6467475" y="2419350"/>
            <a:ext cx="47053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9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2024Q2：118 个股票日</a:t>
            </a:r>
            <a:endParaRPr sz="19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31" name="Chart"/>
          <p:cNvGraphicFramePr/>
          <p:nvPr/>
        </p:nvGraphicFramePr>
        <p:xfrm>
          <a:off x="6410325" y="2914650"/>
          <a:ext cx="4686300" cy="2447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" name="矩形 31"/>
          <p:cNvSpPr>
            <a:spLocks noGrp="1"/>
          </p:cNvSpPr>
          <p:nvPr/>
        </p:nvSpPr>
        <p:spPr>
          <a:xfrm>
            <a:off x="6477000" y="5495925"/>
            <a:ext cx="47053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平均分歧严重度下降约 11.3%</a:t>
            </a:r>
            <a:endParaRPr sz="18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667500" y="4191000"/>
            <a:ext cx="504825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pPr>
            <a:r>
              <a: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rPr>
              <a:t>TRUST</a:t>
            </a:r>
            <a:endParaRPr sz="9900" b="1">
              <a:solidFill>
                <a:srgbClr val="E3EAE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76300" cy="6858000"/>
          </a:xfrm>
          <a:prstGeom prst="rect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52400" y="381000"/>
            <a:ext cx="571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PART</a:t>
            </a:r>
            <a:endParaRPr sz="112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3825" y="657225"/>
            <a:ext cx="62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02</a:t>
            </a:r>
            <a:endParaRPr sz="397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219075" y="1457325"/>
            <a:ext cx="447675" cy="0"/>
          </a:xfrm>
          <a:prstGeom prst="line">
            <a:avLst/>
          </a:prstGeom>
          <a:noFill/>
          <a:ln w="9525">
            <a:solidFill>
              <a:srgbClr val="B7CC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09550" y="1943100"/>
            <a:ext cx="4572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核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心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机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制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" y="6029325"/>
            <a:ext cx="71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rPr>
              <a:t>07 / 12</a:t>
            </a:r>
            <a:endParaRPr sz="975" b="0">
              <a:solidFill>
                <a:srgbClr val="ADC2C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95400" y="695325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聚合同时考虑质量、置信度、证据和一致性</a:t>
            </a:r>
            <a:endParaRPr sz="27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04925" y="1685925"/>
            <a:ext cx="419100" cy="38100"/>
          </a:xfrm>
          <a:prstGeom prst="rect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295400" y="6362700"/>
            <a:ext cx="104203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6448425"/>
            <a:ext cx="962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AlphaOrchestra｜北京大学金融 AI 智能体创新大赛</a:t>
            </a:r>
            <a:endParaRPr sz="10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68075" y="64293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7</a:t>
            </a:r>
            <a:endParaRPr sz="1125" b="0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52550" y="2362200"/>
            <a:ext cx="4095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聚合权重来源</a:t>
            </a:r>
            <a:endParaRPr sz="21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1390650" y="2924175"/>
            <a:ext cx="28765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457325" y="2971800"/>
            <a:ext cx="29241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历史表现</a:t>
            </a:r>
            <a:endParaRPr sz="187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1390650" y="3448050"/>
            <a:ext cx="28765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457325" y="3495675"/>
            <a:ext cx="29241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当前置信度</a:t>
            </a:r>
            <a:endParaRPr sz="187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1390650" y="3971925"/>
            <a:ext cx="28765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457325" y="4019550"/>
            <a:ext cx="29241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证据质量</a:t>
            </a:r>
            <a:endParaRPr sz="187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1390650" y="4495800"/>
            <a:ext cx="28765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457325" y="4543425"/>
            <a:ext cx="29241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意见一致度</a:t>
            </a:r>
            <a:endParaRPr sz="187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1390650" y="5019675"/>
            <a:ext cx="28765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457325" y="5067300"/>
            <a:ext cx="29241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调用成本</a:t>
            </a:r>
            <a:endParaRPr sz="187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5181600" y="3257550"/>
            <a:ext cx="1600200" cy="1600200"/>
          </a:xfrm>
          <a:prstGeom prst="ellipse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438775" y="3648075"/>
            <a:ext cx="10858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22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情境</a:t>
            </a:r>
            <a:endParaRPr sz="225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22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聚合</a:t>
            </a:r>
            <a:endParaRPr sz="225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任意多边形 26"/>
          <p:cNvSpPr>
            <a:spLocks noGrp="1"/>
          </p:cNvSpPr>
          <p:nvPr/>
        </p:nvSpPr>
        <p:spPr>
          <a:xfrm>
            <a:off x="4476750" y="3181350"/>
            <a:ext cx="695325" cy="876300"/>
          </a:xfrm>
          <a:custGeom>
            <a:avLst/>
            <a:gdLst/>
            <a:ahLst/>
            <a:cxnLst/>
            <a:pathLst>
              <a:path w="695325" h="876300">
                <a:moveTo>
                  <a:pt x="0" y="0"/>
                </a:moveTo>
                <a:lnTo>
                  <a:pt x="695325" y="876300"/>
                </a:lnTo>
              </a:path>
            </a:pathLst>
          </a:custGeom>
          <a:noFill/>
          <a:ln w="11430">
            <a:solidFill>
              <a:srgbClr val="CBD6DC"/>
            </a:solidFill>
          </a:ln>
        </p:spPr>
      </p:sp>
      <p:sp>
        <p:nvSpPr>
          <p:cNvPr id="28" name="任意多边形 27"/>
          <p:cNvSpPr>
            <a:spLocks noGrp="1"/>
          </p:cNvSpPr>
          <p:nvPr/>
        </p:nvSpPr>
        <p:spPr>
          <a:xfrm>
            <a:off x="4476750" y="3705225"/>
            <a:ext cx="695325" cy="352425"/>
          </a:xfrm>
          <a:custGeom>
            <a:avLst/>
            <a:gdLst/>
            <a:ahLst/>
            <a:cxnLst/>
            <a:pathLst>
              <a:path w="695325" h="352425">
                <a:moveTo>
                  <a:pt x="0" y="0"/>
                </a:moveTo>
                <a:lnTo>
                  <a:pt x="695325" y="352425"/>
                </a:lnTo>
              </a:path>
            </a:pathLst>
          </a:custGeom>
          <a:noFill/>
          <a:ln w="11430">
            <a:solidFill>
              <a:srgbClr val="CBD6DC"/>
            </a:solidFill>
          </a:ln>
        </p:spPr>
      </p:sp>
      <p:sp>
        <p:nvSpPr>
          <p:cNvPr id="29" name="任意多边形 28"/>
          <p:cNvSpPr>
            <a:spLocks noGrp="1"/>
          </p:cNvSpPr>
          <p:nvPr/>
        </p:nvSpPr>
        <p:spPr>
          <a:xfrm>
            <a:off x="4476750" y="4057650"/>
            <a:ext cx="695325" cy="171450"/>
          </a:xfrm>
          <a:custGeom>
            <a:avLst/>
            <a:gdLst/>
            <a:ahLst/>
            <a:cxnLst/>
            <a:pathLst>
              <a:path w="695325" h="171450">
                <a:moveTo>
                  <a:pt x="0" y="171450"/>
                </a:moveTo>
                <a:lnTo>
                  <a:pt x="695325" y="0"/>
                </a:lnTo>
              </a:path>
            </a:pathLst>
          </a:custGeom>
          <a:noFill/>
          <a:ln w="11430">
            <a:solidFill>
              <a:srgbClr val="CBD6DC"/>
            </a:solidFill>
          </a:ln>
        </p:spPr>
      </p:sp>
      <p:sp>
        <p:nvSpPr>
          <p:cNvPr id="30" name="任意多边形 29"/>
          <p:cNvSpPr>
            <a:spLocks noGrp="1"/>
          </p:cNvSpPr>
          <p:nvPr/>
        </p:nvSpPr>
        <p:spPr>
          <a:xfrm>
            <a:off x="4476750" y="4057650"/>
            <a:ext cx="695325" cy="695325"/>
          </a:xfrm>
          <a:custGeom>
            <a:avLst/>
            <a:gdLst/>
            <a:ahLst/>
            <a:cxnLst/>
            <a:pathLst>
              <a:path w="695325" h="695325">
                <a:moveTo>
                  <a:pt x="0" y="695325"/>
                </a:moveTo>
                <a:lnTo>
                  <a:pt x="695325" y="0"/>
                </a:lnTo>
              </a:path>
            </a:pathLst>
          </a:custGeom>
          <a:noFill/>
          <a:ln w="11430">
            <a:solidFill>
              <a:srgbClr val="CBD6DC"/>
            </a:solidFill>
          </a:ln>
        </p:spPr>
      </p:sp>
      <p:sp>
        <p:nvSpPr>
          <p:cNvPr id="31" name="任意多边形 30"/>
          <p:cNvSpPr>
            <a:spLocks noGrp="1"/>
          </p:cNvSpPr>
          <p:nvPr/>
        </p:nvSpPr>
        <p:spPr>
          <a:xfrm>
            <a:off x="4476750" y="4057650"/>
            <a:ext cx="695325" cy="1219200"/>
          </a:xfrm>
          <a:custGeom>
            <a:avLst/>
            <a:gdLst/>
            <a:ahLst/>
            <a:cxnLst/>
            <a:pathLst>
              <a:path w="695325" h="1219200">
                <a:moveTo>
                  <a:pt x="0" y="1219200"/>
                </a:moveTo>
                <a:lnTo>
                  <a:pt x="695325" y="0"/>
                </a:lnTo>
              </a:path>
            </a:pathLst>
          </a:custGeom>
          <a:noFill/>
          <a:ln w="11430">
            <a:solidFill>
              <a:srgbClr val="CBD6DC"/>
            </a:solidFill>
          </a:ln>
        </p:spPr>
      </p:sp>
      <p:sp>
        <p:nvSpPr>
          <p:cNvPr id="32" name="右箭头 31"/>
          <p:cNvSpPr>
            <a:spLocks noGrp="1"/>
          </p:cNvSpPr>
          <p:nvPr/>
        </p:nvSpPr>
        <p:spPr>
          <a:xfrm>
            <a:off x="6943725" y="3962400"/>
            <a:ext cx="457200" cy="142875"/>
          </a:xfrm>
          <a:prstGeom prst="rightArrow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572375" y="2752725"/>
            <a:ext cx="1133475" cy="866775"/>
          </a:xfrm>
          <a:prstGeom prst="rect">
            <a:avLst/>
          </a:prstGeom>
          <a:solidFill>
            <a:srgbClr val="F5EEE6"/>
          </a:solidFill>
          <a:ln w="9525">
            <a:solidFill>
              <a:srgbClr val="CBD6DC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648575" y="2924175"/>
            <a:ext cx="9810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 日</a:t>
            </a:r>
            <a:endParaRPr sz="22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877300" y="2752725"/>
            <a:ext cx="1133475" cy="866775"/>
          </a:xfrm>
          <a:prstGeom prst="rect">
            <a:avLst/>
          </a:prstGeom>
          <a:solidFill>
            <a:srgbClr val="F5EEE6"/>
          </a:solidFill>
          <a:ln w="9525">
            <a:solidFill>
              <a:srgbClr val="CBD6DC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953500" y="2924175"/>
            <a:ext cx="9810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 日</a:t>
            </a:r>
            <a:endParaRPr sz="22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0182225" y="2752725"/>
            <a:ext cx="1133475" cy="866775"/>
          </a:xfrm>
          <a:prstGeom prst="rect">
            <a:avLst/>
          </a:prstGeom>
          <a:solidFill>
            <a:srgbClr val="F5EEE6"/>
          </a:solidFill>
          <a:ln w="9525">
            <a:solidFill>
              <a:srgbClr val="CBD6DC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10258425" y="2924175"/>
            <a:ext cx="9810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 日</a:t>
            </a:r>
            <a:endParaRPr sz="22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610475" y="3886200"/>
            <a:ext cx="391477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信号均值、离散程度</a:t>
            </a:r>
            <a:endParaRPr sz="1950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路由与诊断信息</a:t>
            </a:r>
            <a:endParaRPr sz="1950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610475" y="4829175"/>
            <a:ext cx="39147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请求缓存支持中断续跑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预算、令牌与配置写入记录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1400175" y="5800725"/>
            <a:ext cx="100012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1438275" y="5905500"/>
            <a:ext cx="6972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历史前缀一致性检查通过</a:t>
            </a:r>
            <a:endParaRPr sz="18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296400" y="5876925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202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2025" b="1">
                <a:solidFill>
                  <a:srgbClr val="137C73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37C73"/>
                </a:solidFill>
                <a:latin typeface="DejaVu Sans"/>
                <a:ea typeface="DejaVu Sans"/>
                <a:cs typeface="DejaVu Sans"/>
              </a:rPr>
              <a:t>PASSED</a:t>
            </a:r>
            <a:endParaRPr sz="2025" b="1">
              <a:solidFill>
                <a:srgbClr val="137C73"/>
              </a:solidFill>
              <a:latin typeface="DejaVu Sans"/>
              <a:ea typeface="DejaVu Sans"/>
              <a:cs typeface="DejaVu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876300" cy="6858000"/>
          </a:xfrm>
          <a:prstGeom prst="rect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52400" y="381000"/>
            <a:ext cx="571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PART</a:t>
            </a:r>
            <a:endParaRPr sz="112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3825" y="657225"/>
            <a:ext cx="62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03</a:t>
            </a:r>
            <a:endParaRPr sz="397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219075" y="1457325"/>
            <a:ext cx="447675" cy="0"/>
          </a:xfrm>
          <a:prstGeom prst="line">
            <a:avLst/>
          </a:prstGeom>
          <a:noFill/>
          <a:ln w="9525">
            <a:solidFill>
              <a:srgbClr val="B7CCD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09550" y="1943100"/>
            <a:ext cx="4572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验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果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5725" y="6029325"/>
            <a:ext cx="71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rPr>
              <a:t>08 / 12</a:t>
            </a:r>
            <a:endParaRPr sz="975" b="0">
              <a:solidFill>
                <a:srgbClr val="ADC2C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95400" y="695325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增强系统在 5 日与 10 日排序指标上优于控制组</a:t>
            </a:r>
            <a:endParaRPr sz="27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04925" y="1685925"/>
            <a:ext cx="419100" cy="38100"/>
          </a:xfrm>
          <a:prstGeom prst="rect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04925" y="1838325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6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CSI300，2024Q2，同一数据、时期和随机种子，59 个有效交易日</a:t>
            </a:r>
            <a:endParaRPr sz="16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295400" y="6362700"/>
            <a:ext cx="104203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6448425"/>
            <a:ext cx="962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AlphaOrchestra｜北京大学金融 AI 智能体创新大赛</a:t>
            </a:r>
            <a:endParaRPr sz="10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68075" y="64293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8</a:t>
            </a:r>
            <a:endParaRPr sz="1125" b="0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81125" y="22860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7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RankIC</a:t>
            </a:r>
            <a:endParaRPr sz="1875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96075" y="228600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87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RankICIR</a:t>
            </a:r>
            <a:endParaRPr sz="1875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graphicFrame>
        <p:nvGraphicFramePr>
          <p:cNvPr id="16" name="Chart"/>
          <p:cNvGraphicFramePr/>
          <p:nvPr/>
        </p:nvGraphicFramePr>
        <p:xfrm>
          <a:off x="1362075" y="2657475"/>
          <a:ext cx="4752975" cy="2028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="6638925" y="2657475"/>
          <a:ext cx="4752975" cy="2028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矩形 17"/>
          <p:cNvSpPr>
            <a:spLocks noGrp="1"/>
          </p:cNvSpPr>
          <p:nvPr/>
        </p:nvSpPr>
        <p:spPr>
          <a:xfrm>
            <a:off x="8086725" y="2324100"/>
            <a:ext cx="123825" cy="123825"/>
          </a:xfrm>
          <a:prstGeom prst="rect">
            <a:avLst/>
          </a:prstGeom>
          <a:solidFill>
            <a:srgbClr val="DFE8ED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86750" y="2238375"/>
            <a:ext cx="17811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20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4 智能体控制组</a:t>
            </a:r>
            <a:endParaRPr sz="120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144125" y="2324100"/>
            <a:ext cx="123825" cy="123825"/>
          </a:xfrm>
          <a:prstGeom prst="rect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344150" y="2238375"/>
            <a:ext cx="11525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0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20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0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增强系统</a:t>
            </a:r>
            <a:endParaRPr sz="120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22" name="表格 21"/>
          <p:cNvGraphicFramePr/>
          <p:nvPr/>
        </p:nvGraphicFramePr>
        <p:xfrm>
          <a:off x="1381125" y="4695825"/>
          <a:ext cx="10001250" cy="1381125"/>
        </p:xfrm>
        <a:graphic>
          <a:graphicData uri="http://schemas.openxmlformats.org/drawingml/2006/table">
            <a:tbl>
              <a:tblPr/>
              <a:tblGrid>
                <a:gridCol w="2876550"/>
                <a:gridCol w="2638425"/>
                <a:gridCol w="2638425"/>
                <a:gridCol w="1847850"/>
              </a:tblGrid>
              <a:tr h="276225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指标</a:t>
                      </a:r>
                      <a:endParaRPr sz="17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0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4 智能体控制组</a:t>
                      </a:r>
                      <a:endParaRPr sz="17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0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AlphaOrchestra</a:t>
                      </a:r>
                      <a:endParaRPr sz="17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072D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提升</a:t>
                      </a:r>
                      <a:endParaRPr sz="17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072D45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72D4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5 日 RankIC</a:t>
                      </a:r>
                      <a:endParaRPr sz="1700" b="0">
                        <a:solidFill>
                          <a:srgbClr val="072D4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72D4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0.009768</a:t>
                      </a:r>
                      <a:endParaRPr sz="1700" b="0">
                        <a:solidFill>
                          <a:srgbClr val="072D4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72D4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0.020645</a:t>
                      </a:r>
                      <a:endParaRPr sz="1700" b="0">
                        <a:solidFill>
                          <a:srgbClr val="072D4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37C7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+111.3%</a:t>
                      </a:r>
                      <a:endParaRPr sz="1700" b="1">
                        <a:solidFill>
                          <a:srgbClr val="137C7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72D4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5 日 RankICIR</a:t>
                      </a:r>
                      <a:endParaRPr sz="1700" b="0">
                        <a:solidFill>
                          <a:srgbClr val="072D4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72D4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0.141083</a:t>
                      </a:r>
                      <a:endParaRPr sz="1700" b="0">
                        <a:solidFill>
                          <a:srgbClr val="072D4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72D4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0.227861</a:t>
                      </a:r>
                      <a:endParaRPr sz="1700" b="0">
                        <a:solidFill>
                          <a:srgbClr val="072D4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37C7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+61.5%</a:t>
                      </a:r>
                      <a:endParaRPr sz="1700" b="1">
                        <a:solidFill>
                          <a:srgbClr val="137C7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72D4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10 日 RankIC</a:t>
                      </a:r>
                      <a:endParaRPr sz="1700" b="0">
                        <a:solidFill>
                          <a:srgbClr val="072D4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72D4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0.009591</a:t>
                      </a:r>
                      <a:endParaRPr sz="1700" b="0">
                        <a:solidFill>
                          <a:srgbClr val="072D4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72D4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0.018666</a:t>
                      </a:r>
                      <a:endParaRPr sz="1700" b="0">
                        <a:solidFill>
                          <a:srgbClr val="072D4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37C7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+94.6%</a:t>
                      </a:r>
                      <a:endParaRPr sz="1700" b="1">
                        <a:solidFill>
                          <a:srgbClr val="137C7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072D4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10 日 RankICIR</a:t>
                      </a:r>
                      <a:endParaRPr sz="1700" b="0">
                        <a:solidFill>
                          <a:srgbClr val="072D4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72D4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0.122253</a:t>
                      </a:r>
                      <a:endParaRPr sz="1700" b="0">
                        <a:solidFill>
                          <a:srgbClr val="072D4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072D4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0.188458</a:t>
                      </a:r>
                      <a:endParaRPr sz="1700" b="0">
                        <a:solidFill>
                          <a:srgbClr val="072D45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37C7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+54.1%</a:t>
                      </a:r>
                      <a:endParaRPr sz="1700" b="1">
                        <a:solidFill>
                          <a:srgbClr val="137C7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0" marR="0" marT="0" marB="0" anchor="ctr">
                    <a:solidFill>
                      <a:srgbClr val="F5EEE6"/>
                    </a:solidFill>
                  </a:tcPr>
                </a:tc>
              </a:tr>
            </a:tbl>
          </a:graphicData>
        </a:graphic>
      </p:graphicFrame>
      <p:sp>
        <p:nvSpPr>
          <p:cNvPr id="23" name="矩形 22"/>
          <p:cNvSpPr>
            <a:spLocks noGrp="1"/>
          </p:cNvSpPr>
          <p:nvPr/>
        </p:nvSpPr>
        <p:spPr>
          <a:xfrm>
            <a:off x="1409700" y="6105525"/>
            <a:ext cx="9886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42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42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主动收益：+0.295% 至 +0.671%     信息比率：0.169 至 0.297</a:t>
            </a:r>
            <a:endParaRPr sz="142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667500" y="4191000"/>
            <a:ext cx="504825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pPr>
            <a:r>
              <a: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rPr>
              <a:t>2026</a:t>
            </a:r>
            <a:endParaRPr sz="9900" b="1">
              <a:solidFill>
                <a:srgbClr val="E3EAE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76300" cy="6858000"/>
          </a:xfrm>
          <a:prstGeom prst="rect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52400" y="381000"/>
            <a:ext cx="571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PART</a:t>
            </a:r>
            <a:endParaRPr sz="112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3825" y="657225"/>
            <a:ext cx="62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03</a:t>
            </a:r>
            <a:endParaRPr sz="397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219075" y="1457325"/>
            <a:ext cx="447675" cy="0"/>
          </a:xfrm>
          <a:prstGeom prst="line">
            <a:avLst/>
          </a:prstGeom>
          <a:noFill/>
          <a:ln w="9525">
            <a:solidFill>
              <a:srgbClr val="B7CC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09550" y="1943100"/>
            <a:ext cx="4572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验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果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" y="6029325"/>
            <a:ext cx="71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rPr>
              <a:t>09 / 12</a:t>
            </a:r>
            <a:endParaRPr sz="975" b="0">
              <a:solidFill>
                <a:srgbClr val="ADC2C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95400" y="695325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参数预先确定后，扩展期中期排序保持正值</a:t>
            </a:r>
            <a:endParaRPr sz="27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04925" y="1685925"/>
            <a:ext cx="419100" cy="38100"/>
          </a:xfrm>
          <a:prstGeom prst="rect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04925" y="1838325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6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2026 扩展期结果与 2026Q3 案例分别呈现</a:t>
            </a:r>
            <a:endParaRPr sz="16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295400" y="6362700"/>
            <a:ext cx="104203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95400" y="6448425"/>
            <a:ext cx="962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AlphaOrchestra｜北京大学金融 AI 智能体创新大赛</a:t>
            </a:r>
            <a:endParaRPr sz="10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268075" y="64293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9</a:t>
            </a:r>
            <a:endParaRPr sz="1125" b="0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400175" y="2295525"/>
            <a:ext cx="5476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2026 扩展期 RankIC</a:t>
            </a:r>
            <a:endParaRPr sz="21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aphicFrame>
        <p:nvGraphicFramePr>
          <p:cNvPr id="16" name="Chart"/>
          <p:cNvGraphicFramePr/>
          <p:nvPr/>
        </p:nvGraphicFramePr>
        <p:xfrm>
          <a:off x="1323975" y="2838450"/>
          <a:ext cx="5705475" cy="2505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矩形 16"/>
          <p:cNvSpPr>
            <a:spLocks noGrp="1"/>
          </p:cNvSpPr>
          <p:nvPr/>
        </p:nvSpPr>
        <p:spPr>
          <a:xfrm>
            <a:off x="1409700" y="5514975"/>
            <a:ext cx="6238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6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5 日：RankICIR 0.084651，176 个有效交易日</a:t>
            </a:r>
            <a:endParaRPr sz="16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6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10 日：RankICIR 0.131179，171 个有效交易日</a:t>
            </a:r>
            <a:endParaRPr sz="16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 rot="36000">
            <a:off x="7686675" y="2447925"/>
            <a:ext cx="3705225" cy="3476625"/>
          </a:xfrm>
          <a:prstGeom prst="rect">
            <a:avLst/>
          </a:prstGeom>
          <a:solidFill>
            <a:srgbClr val="E9DEC1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 rot="-24000">
            <a:off x="7620000" y="2371725"/>
            <a:ext cx="3705225" cy="3476625"/>
          </a:xfrm>
          <a:prstGeom prst="rect">
            <a:avLst/>
          </a:prstGeom>
          <a:solidFill>
            <a:srgbClr val="F5EEE6"/>
          </a:solidFill>
          <a:ln w="9525">
            <a:solidFill>
              <a:srgbClr val="DDDCD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/>
        </p:nvSpPr>
        <p:spPr>
          <a:xfrm>
            <a:off x="7867650" y="2543175"/>
            <a:ext cx="3162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2026Q3 正向案例</a:t>
            </a:r>
            <a:endParaRPr sz="2025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39075" y="3133725"/>
            <a:ext cx="3143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4350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4350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+4.01%</a:t>
            </a:r>
            <a:endParaRPr sz="4350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96225" y="3914775"/>
            <a:ext cx="3143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主动收益</a:t>
            </a:r>
            <a:endParaRPr sz="187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96225" y="437197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信息比率 0.839</a:t>
            </a:r>
            <a:endParaRPr sz="18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7896225" y="4924425"/>
            <a:ext cx="308610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896225" y="5095875"/>
            <a:ext cx="3095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1">
                <a:solidFill>
                  <a:srgbClr val="137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1">
                <a:solidFill>
                  <a:srgbClr val="137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1">
                <a:solidFill>
                  <a:srgbClr val="137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历史前缀检查通过</a:t>
            </a:r>
            <a:endParaRPr sz="1725" b="1">
              <a:solidFill>
                <a:srgbClr val="137C7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86700" y="5486400"/>
            <a:ext cx="3238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2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单季度作为特定市场阶段案例</a:t>
            </a:r>
            <a:endParaRPr sz="127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667500" y="4191000"/>
            <a:ext cx="504825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pPr>
            <a:r>
              <a: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rPr>
              <a:t>RUN</a:t>
            </a:r>
            <a:endParaRPr sz="9900" b="1">
              <a:solidFill>
                <a:srgbClr val="E3EAE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76300" cy="6858000"/>
          </a:xfrm>
          <a:prstGeom prst="rect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52400" y="381000"/>
            <a:ext cx="571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PART</a:t>
            </a:r>
            <a:endParaRPr sz="112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3825" y="657225"/>
            <a:ext cx="62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03</a:t>
            </a:r>
            <a:endParaRPr sz="397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219075" y="1457325"/>
            <a:ext cx="447675" cy="0"/>
          </a:xfrm>
          <a:prstGeom prst="line">
            <a:avLst/>
          </a:prstGeom>
          <a:noFill/>
          <a:ln w="9525">
            <a:solidFill>
              <a:srgbClr val="B7CC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09550" y="1943100"/>
            <a:ext cx="4572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行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记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录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" y="6029325"/>
            <a:ext cx="71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rPr>
              <a:t>10 / 12</a:t>
            </a:r>
            <a:endParaRPr sz="975" b="0">
              <a:solidFill>
                <a:srgbClr val="ADC2C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95400" y="695325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多样性、效率和可追溯性同时进入运行流程</a:t>
            </a:r>
            <a:endParaRPr sz="27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04925" y="1685925"/>
            <a:ext cx="419100" cy="38100"/>
          </a:xfrm>
          <a:prstGeom prst="rect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295400" y="6362700"/>
            <a:ext cx="104203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6448425"/>
            <a:ext cx="962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AlphaOrchestra｜北京大学金融 AI 智能体创新大赛</a:t>
            </a:r>
            <a:endParaRPr sz="10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68075" y="64293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10</a:t>
            </a:r>
            <a:endParaRPr sz="1125" b="0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52550" y="2238375"/>
            <a:ext cx="5191125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7050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7050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7050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98.17%</a:t>
            </a:r>
            <a:endParaRPr sz="7050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90650" y="3486150"/>
            <a:ext cx="53435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25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智能体记录成功率</a:t>
            </a:r>
            <a:endParaRPr sz="225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390650" y="3990975"/>
            <a:ext cx="5829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9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1,090 条记录中，1,070 条成功</a:t>
            </a:r>
            <a:endParaRPr sz="19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7143750" y="2286000"/>
            <a:ext cx="42100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191375" y="2400300"/>
            <a:ext cx="397192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14.14 / 64</a:t>
            </a:r>
            <a:endParaRPr sz="3225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210425" y="2962275"/>
            <a:ext cx="4086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日均候选激活，减少 77.9%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7143750" y="3495675"/>
            <a:ext cx="42100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191375" y="3629025"/>
            <a:ext cx="22479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1,937</a:t>
            </a:r>
            <a:endParaRPr sz="3225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401175" y="3800475"/>
            <a:ext cx="20097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条请求记录</a:t>
            </a:r>
            <a:endParaRPr sz="172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10425" y="4219575"/>
            <a:ext cx="40481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其中缓存请求 1,596 条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7143750" y="4724400"/>
            <a:ext cx="42100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191375" y="4857750"/>
            <a:ext cx="1952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32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32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236</a:t>
            </a:r>
            <a:endParaRPr sz="3225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134475" y="501967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条辩论记录</a:t>
            </a:r>
            <a:endParaRPr sz="172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210425" y="5476875"/>
            <a:ext cx="40862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覆盖 118 个股票日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 rot="36000">
            <a:off x="1447800" y="4962525"/>
            <a:ext cx="5067300" cy="1038225"/>
          </a:xfrm>
          <a:prstGeom prst="rect">
            <a:avLst/>
          </a:prstGeom>
          <a:solidFill>
            <a:srgbClr val="E9DEC1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 rot="-24000">
            <a:off x="1381125" y="4886325"/>
            <a:ext cx="5067300" cy="1038225"/>
          </a:xfrm>
          <a:prstGeom prst="rect">
            <a:avLst/>
          </a:prstGeom>
          <a:solidFill>
            <a:srgbClr val="F5EEE6"/>
          </a:solidFill>
          <a:ln w="9525">
            <a:solidFill>
              <a:srgbClr val="DDDCD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30" name="矩形 29"/>
          <p:cNvSpPr>
            <a:spLocks noGrp="1"/>
          </p:cNvSpPr>
          <p:nvPr/>
        </p:nvSpPr>
        <p:spPr>
          <a:xfrm>
            <a:off x="1581150" y="5038725"/>
            <a:ext cx="46386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同命令续跑</a:t>
            </a:r>
            <a:endParaRPr sz="2025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581150" y="5457825"/>
            <a:ext cx="46386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6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6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6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运行中断    命中请求缓存    接续完成</a:t>
            </a:r>
            <a:endParaRPr sz="16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409700" y="6038850"/>
            <a:ext cx="100584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2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2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27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运行口径：2024Q2 增强系统。货币费用字段为 0，不声称人民币节省比例</a:t>
            </a:r>
            <a:endParaRPr sz="127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667500" y="4191000"/>
            <a:ext cx="504825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pPr>
            <a:r>
              <a: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rPr>
              <a:t>SCOPE</a:t>
            </a:r>
            <a:endParaRPr sz="9900" b="1">
              <a:solidFill>
                <a:srgbClr val="E3EAE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76300" cy="6858000"/>
          </a:xfrm>
          <a:prstGeom prst="rect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52400" y="381000"/>
            <a:ext cx="571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PART</a:t>
            </a:r>
            <a:endParaRPr sz="112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3825" y="657225"/>
            <a:ext cx="62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04</a:t>
            </a:r>
            <a:endParaRPr sz="397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219075" y="1457325"/>
            <a:ext cx="447675" cy="0"/>
          </a:xfrm>
          <a:prstGeom prst="line">
            <a:avLst/>
          </a:prstGeom>
          <a:noFill/>
          <a:ln w="9525">
            <a:solidFill>
              <a:srgbClr val="B7CC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09550" y="1943100"/>
            <a:ext cx="4572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适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范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围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" y="6029325"/>
            <a:ext cx="71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rPr>
              <a:t>11 / 12</a:t>
            </a:r>
            <a:endParaRPr sz="975" b="0">
              <a:solidFill>
                <a:srgbClr val="ADC2C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95400" y="695325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当前适合投研辅助，组合构造仍需继续完善</a:t>
            </a:r>
            <a:endParaRPr sz="27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04925" y="1685925"/>
            <a:ext cx="419100" cy="38100"/>
          </a:xfrm>
          <a:prstGeom prst="rect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295400" y="6362700"/>
            <a:ext cx="104203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6448425"/>
            <a:ext cx="962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AlphaOrchestra｜北京大学金融 AI 智能体创新大赛</a:t>
            </a:r>
            <a:endParaRPr sz="10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68075" y="64293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11</a:t>
            </a:r>
            <a:endParaRPr sz="1125" b="0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71600" y="2305050"/>
            <a:ext cx="37909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17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适合场景</a:t>
            </a:r>
            <a:endParaRPr sz="2175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81125" y="2905125"/>
            <a:ext cx="476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500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01</a:t>
            </a:r>
            <a:endParaRPr sz="1500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009775" y="2867025"/>
            <a:ext cx="3733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因子研究</a:t>
            </a:r>
            <a:endParaRPr sz="18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81125" y="3562350"/>
            <a:ext cx="476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500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02</a:t>
            </a:r>
            <a:endParaRPr sz="1500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009775" y="3524250"/>
            <a:ext cx="3733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策略会审与观点冲突定位</a:t>
            </a:r>
            <a:endParaRPr sz="18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381125" y="4219575"/>
            <a:ext cx="476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500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03</a:t>
            </a:r>
            <a:endParaRPr sz="1500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009775" y="4181475"/>
            <a:ext cx="3733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投委会前置筛查</a:t>
            </a:r>
            <a:endParaRPr sz="18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381125" y="4876800"/>
            <a:ext cx="4762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1500" b="1">
                <a:solidFill>
                  <a:srgbClr val="C99B38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C99B38"/>
                </a:solidFill>
                <a:latin typeface="DejaVu Sans"/>
                <a:ea typeface="DejaVu Sans"/>
                <a:cs typeface="DejaVu Sans"/>
              </a:rPr>
              <a:t>04</a:t>
            </a:r>
            <a:endParaRPr sz="1500" b="1">
              <a:solidFill>
                <a:srgbClr val="C99B3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009775" y="4838700"/>
            <a:ext cx="3733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模拟跟踪</a:t>
            </a:r>
            <a:endParaRPr sz="18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6086475" y="2362200"/>
            <a:ext cx="0" cy="3057525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496050" y="2305050"/>
            <a:ext cx="4657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17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17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17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当前限制</a:t>
            </a:r>
            <a:endParaRPr sz="2175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05575" y="2886075"/>
            <a:ext cx="5019675" cy="1933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排序信号尚未在所有时期稳定转化为组合超额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免费数据的历史成分、复权和基本面覆盖有限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尚未完成连续仿真盘或实盘稳定性验证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725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64 候选池不等同于论文 512 智能体复现实验</a:t>
            </a:r>
            <a:endParaRPr sz="1725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6496050" y="4953000"/>
            <a:ext cx="487680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505575" y="5124450"/>
            <a:ext cx="4762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02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下一步</a:t>
            </a:r>
            <a:endParaRPr sz="2025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505575" y="5581650"/>
            <a:ext cx="50101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5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加入风格与行业暴露约束</a:t>
            </a:r>
            <a:endParaRPr sz="15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5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至少 3 个月模拟跟踪</a:t>
            </a:r>
            <a:endParaRPr sz="15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15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接入商业点时数据，进行双源核查</a:t>
            </a:r>
            <a:endParaRPr sz="15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EE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667500" y="4191000"/>
            <a:ext cx="504825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defRPr>
            </a:pPr>
            <a:r>
              <a:rPr sz="9900" b="1">
                <a:solidFill>
                  <a:srgbClr val="E3EAEC"/>
                </a:solidFill>
                <a:latin typeface="DejaVu Sans"/>
                <a:ea typeface="DejaVu Sans"/>
                <a:cs typeface="DejaVu Sans"/>
              </a:rPr>
              <a:t>ALPHA</a:t>
            </a:r>
            <a:endParaRPr sz="9900" b="1">
              <a:solidFill>
                <a:srgbClr val="E3EAE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76300" cy="6858000"/>
          </a:xfrm>
          <a:prstGeom prst="rect">
            <a:avLst/>
          </a:prstGeom>
          <a:solidFill>
            <a:srgbClr val="072D45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52400" y="381000"/>
            <a:ext cx="571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PART</a:t>
            </a:r>
            <a:endParaRPr sz="112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23825" y="657225"/>
            <a:ext cx="628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defRPr>
            </a:pPr>
            <a:r>
              <a:rPr sz="3975" b="0">
                <a:solidFill>
                  <a:srgbClr val="F5EEE6"/>
                </a:solidFill>
                <a:latin typeface="DejaVu Sans"/>
                <a:ea typeface="DejaVu Sans"/>
                <a:cs typeface="DejaVu Sans"/>
              </a:rPr>
              <a:t>04</a:t>
            </a:r>
            <a:endParaRPr sz="3975" b="0">
              <a:solidFill>
                <a:srgbClr val="F5EEE6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219075" y="1457325"/>
            <a:ext cx="447675" cy="0"/>
          </a:xfrm>
          <a:prstGeom prst="line">
            <a:avLst/>
          </a:prstGeom>
          <a:noFill/>
          <a:ln w="9525">
            <a:solidFill>
              <a:srgbClr val="B7CCD6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09550" y="1943100"/>
            <a:ext cx="4572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总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演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ctr">
              <a:def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F5EE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示</a:t>
            </a:r>
            <a:endParaRPr sz="1875" b="1">
              <a:solidFill>
                <a:srgbClr val="F5EEE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5725" y="6029325"/>
            <a:ext cx="714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ctr">
              <a:def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DC2CE"/>
                </a:solidFill>
                <a:latin typeface="DejaVu Sans"/>
                <a:ea typeface="DejaVu Sans"/>
                <a:cs typeface="DejaVu Sans"/>
              </a:rPr>
              <a:t>12 / 12</a:t>
            </a:r>
            <a:endParaRPr sz="975" b="0">
              <a:solidFill>
                <a:srgbClr val="ADC2C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95400" y="695325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AlphaOrchestra 将多智能体观点转化为</a:t>
            </a:r>
            <a:endParaRPr sz="27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def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2700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可检查的研究过程</a:t>
            </a:r>
            <a:endParaRPr sz="2700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04925" y="1685925"/>
            <a:ext cx="419100" cy="38100"/>
          </a:xfrm>
          <a:prstGeom prst="rect">
            <a:avLst/>
          </a:prstGeom>
          <a:solidFill>
            <a:srgbClr val="C99B38"/>
          </a:solidFill>
          <a:ln w="0">
            <a:noFill/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295400" y="6362700"/>
            <a:ext cx="10420350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95400" y="6448425"/>
            <a:ext cx="962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05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AlphaOrchestra｜北京大学金融 AI 智能体创新大赛</a:t>
            </a:r>
            <a:endParaRPr sz="105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268075" y="6429375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r">
              <a:def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12</a:t>
            </a:r>
            <a:endParaRPr sz="1125" b="0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1381125" y="2924175"/>
            <a:ext cx="9896475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90650" y="2276475"/>
            <a:ext cx="24669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9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9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64</a:t>
            </a:r>
            <a:endParaRPr sz="2925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029075" y="2324100"/>
            <a:ext cx="72294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异质候选视角提供市场观点多样性</a:t>
            </a:r>
            <a:endParaRPr sz="1950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1381125" y="3648075"/>
            <a:ext cx="9896475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390650" y="3000375"/>
            <a:ext cx="24669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9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9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8–24</a:t>
            </a:r>
            <a:endParaRPr sz="2925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029075" y="3048000"/>
            <a:ext cx="72294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每日动态稀疏激活</a:t>
            </a:r>
            <a:endParaRPr sz="1950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1381125" y="4371975"/>
            <a:ext cx="9896475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390650" y="3724275"/>
            <a:ext cx="24669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9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9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5 / 10</a:t>
            </a:r>
            <a:endParaRPr sz="2925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029075" y="3771900"/>
            <a:ext cx="72294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分歧分析与情境聚合提升中期排序质量</a:t>
            </a:r>
            <a:endParaRPr sz="1950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1381125" y="5095875"/>
            <a:ext cx="9896475" cy="0"/>
          </a:xfrm>
          <a:prstGeom prst="line">
            <a:avLst/>
          </a:prstGeom>
          <a:noFill/>
          <a:ln w="9525">
            <a:solidFill>
              <a:srgbClr val="CBD6DC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390650" y="4448175"/>
            <a:ext cx="24669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defPPr>
          </a:lstStyle>
          <a:p>
            <a:pPr algn="l">
              <a:defRPr sz="2325" b="1">
                <a:solidFill>
                  <a:srgbClr val="072D45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72D45"/>
                </a:solidFill>
                <a:latin typeface="DejaVu Sans"/>
                <a:ea typeface="DejaVu Sans"/>
                <a:cs typeface="DejaVu Sans"/>
              </a:rPr>
              <a:t>TRACE</a:t>
            </a:r>
            <a:endParaRPr sz="2325" b="1">
              <a:solidFill>
                <a:srgbClr val="072D45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029075" y="4495800"/>
            <a:ext cx="72294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950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缓存、预算、配置与时序检查支持追溯</a:t>
            </a:r>
            <a:endParaRPr sz="1950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 rot="42000">
            <a:off x="1447800" y="5429250"/>
            <a:ext cx="9896475" cy="847725"/>
          </a:xfrm>
          <a:prstGeom prst="rect">
            <a:avLst/>
          </a:prstGeom>
          <a:solidFill>
            <a:srgbClr val="E9DEC1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 rot="-18000">
            <a:off x="1381125" y="5353050"/>
            <a:ext cx="9896475" cy="847725"/>
          </a:xfrm>
          <a:prstGeom prst="rect">
            <a:avLst/>
          </a:prstGeom>
          <a:solidFill>
            <a:srgbClr val="F5EEE6"/>
          </a:solidFill>
          <a:ln w="9525">
            <a:solidFill>
              <a:srgbClr val="DDDCD4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</p:sp>
      <p:sp>
        <p:nvSpPr>
          <p:cNvPr id="28" name="矩形 27"/>
          <p:cNvSpPr>
            <a:spLocks noGrp="1"/>
          </p:cNvSpPr>
          <p:nvPr/>
        </p:nvSpPr>
        <p:spPr>
          <a:xfrm>
            <a:off x="1581150" y="5467350"/>
            <a:ext cx="16668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1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演示入口</a:t>
            </a:r>
            <a:endParaRPr sz="1875" b="1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67100" y="5476875"/>
            <a:ext cx="73914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875" b="0">
                <a:solidFill>
                  <a:srgbClr val="072D4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06_本地部署/start_review.ps1</a:t>
            </a:r>
            <a:endParaRPr sz="1875" b="0">
              <a:solidFill>
                <a:srgbClr val="072D4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600200" y="5848350"/>
            <a:ext cx="933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150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defPPr>
          </a:lstStyle>
          <a:p>
            <a:pPr algn="l">
              <a:defRPr sz="150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defRPr>
            </a:pPr>
            <a:r>
              <a:rPr sz="1500" b="0">
                <a:solidFill>
                  <a:srgbClr val="536A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请评委查看离线示例，也可配置 API 后进行联网复现</a:t>
            </a:r>
            <a:endParaRPr sz="1500" b="0">
              <a:solidFill>
                <a:srgbClr val="536A7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Blue Paper">
      <a:dk1>
        <a:srgbClr val="072D45"/>
      </a:dk1>
      <a:lt1>
        <a:srgbClr val="FFFFFF"/>
      </a:lt1>
      <a:dk2>
        <a:srgbClr val="125173"/>
      </a:dk2>
      <a:lt2>
        <a:srgbClr val="F5EEE6"/>
      </a:lt2>
      <a:accent1>
        <a:srgbClr val="072D45"/>
      </a:accent1>
      <a:accent2>
        <a:srgbClr val="C99B38"/>
      </a:accent2>
      <a:accent3>
        <a:srgbClr val="137C73"/>
      </a:accent3>
      <a:accent4>
        <a:srgbClr val="125173"/>
      </a:accent4>
      <a:accent5>
        <a:srgbClr val="DFE8ED"/>
      </a:accent5>
      <a:accent6>
        <a:srgbClr val="536A78"/>
      </a:accent6>
      <a:hlink>
        <a:srgbClr val="125173"/>
      </a:hlink>
      <a:folHlink>
        <a:srgbClr val="536A78"/>
      </a:folHlink>
    </a:clrScheme>
    <a:fontScheme name="">
      <a:majorFont>
        <a:latin typeface="Noto Sans SC"/>
        <a:ea typeface=""/>
        <a:cs typeface=""/>
      </a:majorFont>
      <a:minorFont>
        <a:latin typeface="Noto Sans SC"/>
        <a:ea typeface=""/>
        <a:cs typeface=""/>
      </a:minorFont>
    </a:fontScheme>
    <a:fmtScheme name="Blue Pap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Blue Paper">
      <a:dk1>
        <a:srgbClr val="072D45"/>
      </a:dk1>
      <a:lt1>
        <a:srgbClr val="FFFFFF"/>
      </a:lt1>
      <a:dk2>
        <a:srgbClr val="125173"/>
      </a:dk2>
      <a:lt2>
        <a:srgbClr val="F5EEE6"/>
      </a:lt2>
      <a:accent1>
        <a:srgbClr val="072D45"/>
      </a:accent1>
      <a:accent2>
        <a:srgbClr val="C99B38"/>
      </a:accent2>
      <a:accent3>
        <a:srgbClr val="137C73"/>
      </a:accent3>
      <a:accent4>
        <a:srgbClr val="125173"/>
      </a:accent4>
      <a:accent5>
        <a:srgbClr val="DFE8ED"/>
      </a:accent5>
      <a:accent6>
        <a:srgbClr val="536A78"/>
      </a:accent6>
      <a:hlink>
        <a:srgbClr val="125173"/>
      </a:hlink>
      <a:folHlink>
        <a:srgbClr val="536A78"/>
      </a:folHlink>
    </a:clrScheme>
    <a:fontScheme name="">
      <a:majorFont>
        <a:latin typeface="Noto Sans SC"/>
        <a:ea typeface=""/>
        <a:cs typeface=""/>
      </a:majorFont>
      <a:minorFont>
        <a:latin typeface="Noto Sans SC"/>
        <a:ea typeface=""/>
        <a:cs typeface=""/>
      </a:minorFont>
    </a:fontScheme>
    <a:fmtScheme name="Blue Pap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2558</Words>
  <Application>WPS 演示</Application>
  <PresentationFormat>Converted Presentation</PresentationFormat>
  <Paragraphs>582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DejaVu Sans</vt:lpstr>
      <vt:lpstr>Calibri</vt:lpstr>
      <vt:lpstr>Noto Sans SC</vt:lpstr>
      <vt:lpstr>KSOF1B52B550</vt:lpstr>
      <vt:lpstr>Segoe Print</vt:lpstr>
      <vt:lpstr>KSOFAF972451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小小潘</cp:lastModifiedBy>
  <cp:revision>1</cp:revision>
  <dcterms:created xsi:type="dcterms:W3CDTF">2026-10-11T07:07:50Z</dcterms:created>
  <dcterms:modified xsi:type="dcterms:W3CDTF">2026-10-11T07:07:50Z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A10C4FA7039D494BAFA869B02FF4CAD8_12</vt:lpwstr>
  </property>
  <property fmtid="{D5CDD505-2E9C-101B-9397-08002B2CF9AE}" pid="3" name="KSOProductBuildVer">
    <vt:lpwstr>2052-12.1.0.29161</vt:lpwstr>
  </property>
</Properties>
</file>